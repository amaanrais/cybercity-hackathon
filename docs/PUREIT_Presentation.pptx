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89106" autoAdjust="0"/>
  </p:normalViewPr>
  <p:slideViewPr>
    <p:cSldViewPr snapToGrid="0">
      <p:cViewPr varScale="1">
        <p:scale>
          <a:sx n="140" d="100"/>
          <a:sy n="140"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compromised operator credential permits malicious commands through legitimate SCADA channels. Network authentication alone does not establish that a dosing command is physically safe. The intended defender is the operator on shift. A full shutdown can threaten water pressure, firefighting capacity and backflow protection.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prototype models a Safety Instrumented System (SIS) between SCADA and the dosing pump. Independence is an architectural objective. Real hardware isolation and a physical key switch remain future work. The source describes inspiration from IEC 61511 / ISA-84, not achieved certification.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Gate 1 limits projected resulting finished-water concentration, rather than raw pump stroke, to address both direct dosing and flow-spoofing scenarios. Gate 2 rejects dose changes faster than 40 ppm per second. Gate 3 cross-checks independent sensor channels within 15% across multiple samples. These are team-selected prototype thresholds, not validated drinking-water limits or universal industrial settings.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five consecutive blocked commands, the prototype invokes its fail-safe decay policy. Dosing steps down smoothly toward the configured 100 ppm baseline while the plant continues operating. This is the prototype policy, not a claim of certified process safety.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team describes a </a:t>
            </a:r>
            <a:r>
              <a:rPr dirty="0" err="1"/>
              <a:t>FastAPI</a:t>
            </a:r>
            <a:r>
              <a:rPr dirty="0"/>
              <a:t> control-room dashboard with real-time charts. The Ghost Line shows the attacker-requested dose beside the dose that reaches the simulated water process. Every blocked command enters an audit log with the responsible gate. No measured performance or test outcome is supplied in the </a:t>
            </a:r>
            <a:r>
              <a:rPr dirty="0" err="1"/>
              <a:t>teamsheet</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Next steps from the source: replace simulated sensors with Modbus/OPC-UA integration against a PLC test rig; implement a genuine air-gapped hardware key switch; pursue formal ISA-84 compliance review and validation against a certified SIL-3 logic solver; extend redundancy to chlorine and fluoride parameters. The current prototype is not claimed to be certified.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8572500" y="1571625"/>
            <a:ext cx="2667000" cy="2667000"/>
          </a:xfrm>
          <a:prstGeom prst="rect">
            <a:avLst/>
          </a:prstGeom>
        </p:spPr>
      </p:pic>
      <p:sp>
        <p:nvSpPr>
          <p:cNvPr id="2" name="Rectangle 1">
            <a:extLst>
              <a:ext uri="{FF2B5EF4-FFF2-40B4-BE49-F238E27FC236}">
                <a16:creationId xmlns:a16="http://schemas.microsoft.com/office/drawing/2014/main" id="{C50CDD9D-7620-4291-AAEC-90E4D9D4DD7F}"/>
              </a:ext>
            </a:extLst>
          </p:cNvPr>
          <p:cNvSpPr>
            <a:spLocks noGrp="1"/>
          </p:cNvSpPr>
          <p:nvPr/>
        </p:nvSpPr>
        <p:spPr>
          <a:xfrm>
            <a:off x="666750" y="1524000"/>
            <a:ext cx="7620000" cy="952500"/>
          </a:xfrm>
          <a:prstGeom prst="rect">
            <a:avLst/>
          </a:prstGeom>
          <a:noFill/>
          <a:ln w="0">
            <a:noFill/>
          </a:ln>
        </p:spPr>
        <p:txBody>
          <a:bodyPr>
            <a:noAutofit/>
          </a:bodyPr>
          <a:lstStyle/>
          <a:p>
            <a:pPr>
              <a:defRPr sz="5700" b="1">
                <a:solidFill>
                  <a:srgbClr val="0075B9"/>
                </a:solidFill>
                <a:latin typeface="Bitstream Charter"/>
                <a:ea typeface="Bitstream Charter"/>
                <a:cs typeface="Bitstream Charter"/>
              </a:defRPr>
            </a:pPr>
            <a:r>
              <a:rPr sz="5700" b="1" dirty="0">
                <a:solidFill>
                  <a:srgbClr val="0075B9"/>
                </a:solidFill>
                <a:latin typeface="Bitstream Charter"/>
                <a:ea typeface="Bitstream Charter"/>
                <a:cs typeface="Bitstream Charter"/>
              </a:rPr>
              <a:t>AQUAP</a:t>
            </a:r>
            <a:r>
              <a:rPr lang="en-US" sz="5700" b="1" dirty="0">
                <a:solidFill>
                  <a:srgbClr val="0075B9"/>
                </a:solidFill>
                <a:latin typeface="Bitstream Charter"/>
                <a:ea typeface="Bitstream Charter"/>
                <a:cs typeface="Bitstream Charter"/>
              </a:rPr>
              <a:t>HY</a:t>
            </a:r>
            <a:endParaRPr sz="5700" b="1" dirty="0">
              <a:solidFill>
                <a:srgbClr val="0075B9"/>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7E5F7905-7EC8-4239-B66E-9A2DB15BB492}"/>
              </a:ext>
            </a:extLst>
          </p:cNvPr>
          <p:cNvSpPr>
            <a:spLocks noGrp="1"/>
          </p:cNvSpPr>
          <p:nvPr/>
        </p:nvSpPr>
        <p:spPr>
          <a:xfrm>
            <a:off x="714375" y="2714625"/>
            <a:ext cx="7429500" cy="1143000"/>
          </a:xfrm>
          <a:prstGeom prst="rect">
            <a:avLst/>
          </a:prstGeom>
          <a:noFill/>
          <a:ln w="0">
            <a:noFill/>
          </a:ln>
        </p:spPr>
        <p:txBody>
          <a:bodyPr>
            <a:noAutofit/>
          </a:bodyPr>
          <a:lstStyle/>
          <a:p>
            <a:pPr>
              <a:defRPr sz="2850" b="0">
                <a:solidFill>
                  <a:srgbClr val="153550"/>
                </a:solidFill>
                <a:latin typeface="Bitstream Charter"/>
                <a:ea typeface="Bitstream Charter"/>
                <a:cs typeface="Bitstream Charter"/>
              </a:defRPr>
            </a:pPr>
            <a:r>
              <a:rPr sz="2850" b="0">
                <a:solidFill>
                  <a:srgbClr val="153550"/>
                </a:solidFill>
                <a:latin typeface="Bitstream Charter"/>
                <a:ea typeface="Bitstream Charter"/>
                <a:cs typeface="Bitstream Charter"/>
              </a:rPr>
              <a:t>Independent safety interlock</a:t>
            </a:r>
          </a:p>
          <a:p>
            <a:pPr>
              <a:defRPr sz="2850" b="0">
                <a:solidFill>
                  <a:srgbClr val="153550"/>
                </a:solidFill>
                <a:latin typeface="Bitstream Charter"/>
                <a:ea typeface="Bitstream Charter"/>
                <a:cs typeface="Bitstream Charter"/>
              </a:defRPr>
            </a:pPr>
            <a:r>
              <a:rPr sz="2850" b="0">
                <a:solidFill>
                  <a:srgbClr val="153550"/>
                </a:solidFill>
                <a:latin typeface="Bitstream Charter"/>
                <a:ea typeface="Bitstream Charter"/>
                <a:cs typeface="Bitstream Charter"/>
              </a:rPr>
              <a:t>for water-treatment dosing</a:t>
            </a:r>
          </a:p>
        </p:txBody>
      </p:sp>
      <p:sp>
        <p:nvSpPr>
          <p:cNvPr id="4" name="Rectangle 3">
            <a:extLst>
              <a:ext uri="{FF2B5EF4-FFF2-40B4-BE49-F238E27FC236}">
                <a16:creationId xmlns:a16="http://schemas.microsoft.com/office/drawing/2014/main" id="{D06DFF3D-66FE-49DF-B89C-0913364F942F}"/>
              </a:ext>
            </a:extLst>
          </p:cNvPr>
          <p:cNvSpPr>
            <a:spLocks noGrp="1"/>
          </p:cNvSpPr>
          <p:nvPr/>
        </p:nvSpPr>
        <p:spPr>
          <a:xfrm>
            <a:off x="714375" y="4524375"/>
            <a:ext cx="10001250" cy="400050"/>
          </a:xfrm>
          <a:prstGeom prst="rect">
            <a:avLst/>
          </a:prstGeom>
          <a:noFill/>
          <a:ln w="0">
            <a:noFill/>
          </a:ln>
        </p:spPr>
        <p:txBody>
          <a:bodyPr>
            <a:noAutofit/>
          </a:bodyPr>
          <a:lstStyle/>
          <a:p>
            <a:pPr>
              <a:defRPr sz="2025" b="1">
                <a:solidFill>
                  <a:srgbClr val="0075B9"/>
                </a:solidFill>
                <a:latin typeface="Bitstream Charter"/>
                <a:ea typeface="Bitstream Charter"/>
                <a:cs typeface="Bitstream Charter"/>
              </a:defRPr>
            </a:pPr>
            <a:r>
              <a:rPr sz="2025" b="1">
                <a:solidFill>
                  <a:srgbClr val="0075B9"/>
                </a:solidFill>
                <a:latin typeface="Bitstream Charter"/>
                <a:ea typeface="Bitstream Charter"/>
                <a:cs typeface="Bitstream Charter"/>
              </a:rPr>
              <a:t>CyberMACS Summer School 2026 Hackathon</a:t>
            </a:r>
          </a:p>
        </p:txBody>
      </p:sp>
      <p:sp>
        <p:nvSpPr>
          <p:cNvPr id="5" name="Rectangle 4">
            <a:extLst>
              <a:ext uri="{FF2B5EF4-FFF2-40B4-BE49-F238E27FC236}">
                <a16:creationId xmlns:a16="http://schemas.microsoft.com/office/drawing/2014/main" id="{74C6A418-0DC2-4409-92D8-882C3491CC5B}"/>
              </a:ext>
            </a:extLst>
          </p:cNvPr>
          <p:cNvSpPr>
            <a:spLocks noGrp="1"/>
          </p:cNvSpPr>
          <p:nvPr/>
        </p:nvSpPr>
        <p:spPr>
          <a:xfrm>
            <a:off x="714375" y="5191125"/>
            <a:ext cx="10607040" cy="914400"/>
          </a:xfrm>
          <a:prstGeom prst="rect">
            <a:avLst/>
          </a:prstGeom>
          <a:noFill/>
          <a:ln w="0">
            <a:noFill/>
          </a:ln>
        </p:spPr>
        <p:txBody>
          <a:bodyPr>
            <a:noAutofit/>
          </a:bodyPr>
          <a:lstStyle/>
          <a:p>
            <a:pPr>
              <a:defRPr sz="1800" b="0">
                <a:solidFill>
                  <a:srgbClr val="526779"/>
                </a:solidFill>
                <a:latin typeface="Bitstream Charter"/>
                <a:ea typeface="Bitstream Charter"/>
                <a:cs typeface="Bitstream Charter"/>
              </a:defRPr>
            </a:pPr>
            <a:r>
              <a:rPr sz="1800" b="1" dirty="0">
                <a:solidFill>
                  <a:srgbClr val="526779"/>
                </a:solidFill>
                <a:latin typeface="Bitstream Charter"/>
                <a:ea typeface="Bitstream Charter"/>
                <a:cs typeface="Bitstream Charter"/>
              </a:rPr>
              <a:t>Team PUREIT</a:t>
            </a:r>
            <a:r>
              <a:rPr lang="en-US" sz="1800" b="1" dirty="0">
                <a:solidFill>
                  <a:srgbClr val="526779"/>
                </a:solidFill>
                <a:latin typeface="Bitstream Charter"/>
                <a:ea typeface="Bitstream Charter"/>
                <a:cs typeface="Bitstream Charter"/>
              </a:rPr>
              <a:t> (</a:t>
            </a:r>
            <a:r>
              <a:rPr lang="en-US" dirty="0">
                <a:solidFill>
                  <a:srgbClr val="526779"/>
                </a:solidFill>
                <a:latin typeface="Bitstream Charter"/>
                <a:ea typeface="Bitstream Charter"/>
                <a:cs typeface="Bitstream Charter"/>
              </a:rPr>
              <a:t>Track A · Resilience Under Attack</a:t>
            </a:r>
            <a:r>
              <a:rPr lang="en-US" sz="1800" b="1" dirty="0">
                <a:solidFill>
                  <a:srgbClr val="526779"/>
                </a:solidFill>
                <a:latin typeface="Bitstream Charter"/>
                <a:ea typeface="Bitstream Charter"/>
                <a:cs typeface="Bitstream Charter"/>
              </a:rPr>
              <a:t>)</a:t>
            </a:r>
          </a:p>
          <a:p>
            <a:pPr>
              <a:defRPr sz="1800" b="0">
                <a:solidFill>
                  <a:srgbClr val="526779"/>
                </a:solidFill>
                <a:latin typeface="Bitstream Charter"/>
                <a:ea typeface="Bitstream Charter"/>
                <a:cs typeface="Bitstream Charter"/>
              </a:defRPr>
            </a:pPr>
            <a:r>
              <a:rPr sz="1500" b="0" dirty="0">
                <a:solidFill>
                  <a:srgbClr val="526779"/>
                </a:solidFill>
                <a:latin typeface="Bitstream Charter"/>
              </a:rPr>
              <a:t>Amaan Rais</a:t>
            </a:r>
            <a:r>
              <a:rPr lang="en-GB" sz="1500" b="0" dirty="0">
                <a:solidFill>
                  <a:srgbClr val="526779"/>
                </a:solidFill>
                <a:latin typeface="Bitstream Charter"/>
              </a:rPr>
              <a:t> Shah</a:t>
            </a:r>
            <a:r>
              <a:rPr sz="1500" b="0" dirty="0">
                <a:solidFill>
                  <a:srgbClr val="526779"/>
                </a:solidFill>
                <a:latin typeface="Bitstream Charter"/>
              </a:rPr>
              <a:t> · Amar Kumar Mandal · Mahdi Mohammad Shibli · Quazi Fariha Tasnim · S M </a:t>
            </a:r>
            <a:r>
              <a:rPr sz="1500" b="0" dirty="0" err="1">
                <a:solidFill>
                  <a:srgbClr val="526779"/>
                </a:solidFill>
                <a:latin typeface="Bitstream Charter"/>
              </a:rPr>
              <a:t>Dedar</a:t>
            </a:r>
            <a:r>
              <a:rPr sz="1500" b="0" dirty="0">
                <a:solidFill>
                  <a:srgbClr val="526779"/>
                </a:solidFill>
                <a:latin typeface="Bitstream Charter"/>
              </a:rPr>
              <a:t> Alam</a:t>
            </a:r>
            <a:endParaRPr sz="1800" b="0" dirty="0">
              <a:solidFill>
                <a:srgbClr val="526779"/>
              </a:solidFill>
              <a:latin typeface="Bitstream Charter"/>
              <a:ea typeface="Bitstream Charter"/>
              <a:cs typeface="Bitstream Charter"/>
            </a:endParaRPr>
          </a:p>
        </p:txBody>
      </p:sp>
    </p:spTree>
    <p:extLst>
      <p:ext uri="{BB962C8B-B14F-4D97-AF65-F5344CB8AC3E}">
        <p14:creationId xmlns:p14="http://schemas.microsoft.com/office/powerpoint/2010/main" val="1602045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41381C9E-661C-464C-BDDA-5936469D3003}"/>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The threat to water treatment</a:t>
            </a:r>
          </a:p>
        </p:txBody>
      </p:sp>
      <p:sp>
        <p:nvSpPr>
          <p:cNvPr id="3" name="Rectangle 2">
            <a:extLst>
              <a:ext uri="{FF2B5EF4-FFF2-40B4-BE49-F238E27FC236}">
                <a16:creationId xmlns:a16="http://schemas.microsoft.com/office/drawing/2014/main" id="{72BF0583-4972-4544-8078-9E0621288DA7}"/>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039217C3-7CAC-47EC-A02D-87F33C5ABEB7}"/>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02</a:t>
            </a:r>
          </a:p>
        </p:txBody>
      </p:sp>
      <p:sp>
        <p:nvSpPr>
          <p:cNvPr id="5" name="Rectangle 4">
            <a:extLst>
              <a:ext uri="{FF2B5EF4-FFF2-40B4-BE49-F238E27FC236}">
                <a16:creationId xmlns:a16="http://schemas.microsoft.com/office/drawing/2014/main" id="{A4977F74-6F5E-4388-A301-5003E246FD77}"/>
              </a:ext>
            </a:extLst>
          </p:cNvPr>
          <p:cNvSpPr>
            <a:spLocks noGrp="1"/>
          </p:cNvSpPr>
          <p:nvPr/>
        </p:nvSpPr>
        <p:spPr>
          <a:xfrm>
            <a:off x="666750" y="1725930"/>
            <a:ext cx="10191750" cy="1143000"/>
          </a:xfrm>
          <a:prstGeom prst="rect">
            <a:avLst/>
          </a:prstGeom>
          <a:noFill/>
          <a:ln w="0">
            <a:noFill/>
          </a:ln>
        </p:spPr>
        <p:txBody>
          <a:bodyPr>
            <a:noAutofit/>
          </a:bodyPr>
          <a:lstStyle/>
          <a:p>
            <a:pPr>
              <a:defRPr sz="3600" b="1">
                <a:solidFill>
                  <a:srgbClr val="0075B9"/>
                </a:solidFill>
                <a:latin typeface="Bitstream Charter"/>
                <a:ea typeface="Bitstream Charter"/>
                <a:cs typeface="Bitstream Charter"/>
              </a:defRPr>
            </a:pPr>
            <a:r>
              <a:rPr sz="3600" b="1" dirty="0">
                <a:solidFill>
                  <a:srgbClr val="0075B9"/>
                </a:solidFill>
                <a:latin typeface="Bitstream Charter"/>
                <a:ea typeface="Bitstream Charter"/>
                <a:cs typeface="Bitstream Charter"/>
              </a:rPr>
              <a:t>Valid credentials can carry</a:t>
            </a:r>
          </a:p>
          <a:p>
            <a:pPr>
              <a:defRPr sz="3600" b="1">
                <a:solidFill>
                  <a:srgbClr val="0075B9"/>
                </a:solidFill>
                <a:latin typeface="Bitstream Charter"/>
                <a:ea typeface="Bitstream Charter"/>
                <a:cs typeface="Bitstream Charter"/>
              </a:defRPr>
            </a:pPr>
            <a:r>
              <a:rPr sz="3600" b="1" dirty="0">
                <a:solidFill>
                  <a:srgbClr val="0075B9"/>
                </a:solidFill>
                <a:latin typeface="Bitstream Charter"/>
                <a:ea typeface="Bitstream Charter"/>
                <a:cs typeface="Bitstream Charter"/>
              </a:rPr>
              <a:t>an unsafe dosing command.</a:t>
            </a:r>
          </a:p>
        </p:txBody>
      </p:sp>
      <p:sp>
        <p:nvSpPr>
          <p:cNvPr id="6" name="Rectangle 5">
            <a:extLst>
              <a:ext uri="{FF2B5EF4-FFF2-40B4-BE49-F238E27FC236}">
                <a16:creationId xmlns:a16="http://schemas.microsoft.com/office/drawing/2014/main" id="{9735D114-2866-4876-A09D-1F792876F2B4}"/>
              </a:ext>
            </a:extLst>
          </p:cNvPr>
          <p:cNvSpPr>
            <a:spLocks noGrp="1"/>
          </p:cNvSpPr>
          <p:nvPr/>
        </p:nvSpPr>
        <p:spPr>
          <a:xfrm>
            <a:off x="714375" y="3667125"/>
            <a:ext cx="5143500" cy="476250"/>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Compromised operator access</a:t>
            </a:r>
          </a:p>
        </p:txBody>
      </p:sp>
      <p:sp>
        <p:nvSpPr>
          <p:cNvPr id="7" name="Rectangle 6">
            <a:extLst>
              <a:ext uri="{FF2B5EF4-FFF2-40B4-BE49-F238E27FC236}">
                <a16:creationId xmlns:a16="http://schemas.microsoft.com/office/drawing/2014/main" id="{11571C94-8AB4-4579-A612-CA75E84AAEC1}"/>
              </a:ext>
            </a:extLst>
          </p:cNvPr>
          <p:cNvSpPr>
            <a:spLocks noGrp="1"/>
          </p:cNvSpPr>
          <p:nvPr/>
        </p:nvSpPr>
        <p:spPr>
          <a:xfrm>
            <a:off x="714375" y="4267200"/>
            <a:ext cx="5048250" cy="952500"/>
          </a:xfrm>
          <a:prstGeom prst="rect">
            <a:avLst/>
          </a:prstGeom>
          <a:noFill/>
          <a:ln w="0">
            <a:noFill/>
          </a:ln>
        </p:spPr>
        <p:txBody>
          <a:bodyPr>
            <a:noAutofit/>
          </a:bodyPr>
          <a:lstStyle/>
          <a:p>
            <a:pPr>
              <a:defRPr sz="2175" b="0">
                <a:solidFill>
                  <a:srgbClr val="526779"/>
                </a:solidFill>
                <a:latin typeface="Bitstream Charter"/>
                <a:ea typeface="Bitstream Charter"/>
                <a:cs typeface="Bitstream Charter"/>
              </a:defRPr>
            </a:pPr>
            <a:r>
              <a:rPr sz="2175" b="0">
                <a:solidFill>
                  <a:srgbClr val="526779"/>
                </a:solidFill>
                <a:latin typeface="Bitstream Charter"/>
                <a:ea typeface="Bitstream Charter"/>
                <a:cs typeface="Bitstream Charter"/>
              </a:rPr>
              <a:t>SCADA accepts the command.</a:t>
            </a:r>
          </a:p>
          <a:p>
            <a:pPr>
              <a:defRPr sz="2175" b="0">
                <a:solidFill>
                  <a:srgbClr val="526779"/>
                </a:solidFill>
                <a:latin typeface="Bitstream Charter"/>
                <a:ea typeface="Bitstream Charter"/>
                <a:cs typeface="Bitstream Charter"/>
              </a:defRPr>
            </a:pPr>
            <a:r>
              <a:rPr sz="2175" b="0">
                <a:solidFill>
                  <a:srgbClr val="526779"/>
                </a:solidFill>
                <a:latin typeface="Bitstream Charter"/>
                <a:ea typeface="Bitstream Charter"/>
                <a:cs typeface="Bitstream Charter"/>
              </a:rPr>
              <a:t>The PLC executes the setpoint.</a:t>
            </a:r>
          </a:p>
        </p:txBody>
      </p:sp>
      <p:sp>
        <p:nvSpPr>
          <p:cNvPr id="8" name="Rectangle 7">
            <a:extLst>
              <a:ext uri="{FF2B5EF4-FFF2-40B4-BE49-F238E27FC236}">
                <a16:creationId xmlns:a16="http://schemas.microsoft.com/office/drawing/2014/main" id="{E4102257-EF68-4A35-B22F-AFBBAA1AB907}"/>
              </a:ext>
            </a:extLst>
          </p:cNvPr>
          <p:cNvSpPr>
            <a:spLocks noGrp="1"/>
          </p:cNvSpPr>
          <p:nvPr/>
        </p:nvSpPr>
        <p:spPr>
          <a:xfrm>
            <a:off x="6619875" y="3667125"/>
            <a:ext cx="4762500" cy="476250"/>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Safety and availability</a:t>
            </a:r>
          </a:p>
        </p:txBody>
      </p:sp>
      <p:sp>
        <p:nvSpPr>
          <p:cNvPr id="9" name="Rectangle 8">
            <a:extLst>
              <a:ext uri="{FF2B5EF4-FFF2-40B4-BE49-F238E27FC236}">
                <a16:creationId xmlns:a16="http://schemas.microsoft.com/office/drawing/2014/main" id="{35CCA930-1A8C-4F6B-B7E9-563B69F0F245}"/>
              </a:ext>
            </a:extLst>
          </p:cNvPr>
          <p:cNvSpPr>
            <a:spLocks noGrp="1"/>
          </p:cNvSpPr>
          <p:nvPr/>
        </p:nvSpPr>
        <p:spPr>
          <a:xfrm>
            <a:off x="6619875" y="4267200"/>
            <a:ext cx="4762500" cy="952500"/>
          </a:xfrm>
          <a:prstGeom prst="rect">
            <a:avLst/>
          </a:prstGeom>
          <a:noFill/>
          <a:ln w="0">
            <a:noFill/>
          </a:ln>
        </p:spPr>
        <p:txBody>
          <a:bodyPr>
            <a:noAutofit/>
          </a:bodyPr>
          <a:lstStyle/>
          <a:p>
            <a:pPr>
              <a:defRPr sz="2175" b="0">
                <a:solidFill>
                  <a:srgbClr val="526779"/>
                </a:solidFill>
                <a:latin typeface="Bitstream Charter"/>
                <a:ea typeface="Bitstream Charter"/>
                <a:cs typeface="Bitstream Charter"/>
              </a:defRPr>
            </a:pPr>
            <a:r>
              <a:rPr sz="2175" b="0">
                <a:solidFill>
                  <a:srgbClr val="526779"/>
                </a:solidFill>
                <a:latin typeface="Bitstream Charter"/>
                <a:ea typeface="Bitstream Charter"/>
                <a:cs typeface="Bitstream Charter"/>
              </a:rPr>
              <a:t>Reject unsafe dosing while</a:t>
            </a:r>
          </a:p>
          <a:p>
            <a:pPr>
              <a:defRPr sz="2175" b="0">
                <a:solidFill>
                  <a:srgbClr val="526779"/>
                </a:solidFill>
                <a:latin typeface="Bitstream Charter"/>
                <a:ea typeface="Bitstream Charter"/>
                <a:cs typeface="Bitstream Charter"/>
              </a:defRPr>
            </a:pPr>
            <a:r>
              <a:rPr sz="2175" b="0">
                <a:solidFill>
                  <a:srgbClr val="526779"/>
                </a:solidFill>
                <a:latin typeface="Bitstream Charter"/>
                <a:ea typeface="Bitstream Charter"/>
                <a:cs typeface="Bitstream Charter"/>
              </a:rPr>
              <a:t>maintaining water service.</a:t>
            </a:r>
          </a:p>
        </p:txBody>
      </p:sp>
      <p:sp>
        <p:nvSpPr>
          <p:cNvPr id="11" name="Rectangle 9">
            <a:extLst>
              <a:ext uri="{FF2B5EF4-FFF2-40B4-BE49-F238E27FC236}">
                <a16:creationId xmlns:a16="http://schemas.microsoft.com/office/drawing/2014/main" id="{5E281178-39B0-4D45-B753-20F9F33F8990}"/>
              </a:ext>
            </a:extLst>
          </p:cNvPr>
          <p:cNvSpPr>
            <a:spLocks noGrp="1"/>
          </p:cNvSpPr>
          <p:nvPr/>
        </p:nvSpPr>
        <p:spPr>
          <a:xfrm>
            <a:off x="714375" y="5524500"/>
            <a:ext cx="10820400" cy="428625"/>
          </a:xfrm>
          <a:prstGeom prst="rect">
            <a:avLst/>
          </a:prstGeom>
          <a:noFill/>
          <a:ln w="0">
            <a:noFill/>
          </a:ln>
        </p:spPr>
        <p:txBody>
          <a:bodyPr>
            <a:noAutofit/>
          </a:bodyPr>
          <a:lstStyle/>
          <a:p>
            <a:pPr>
              <a:defRPr sz="1650" b="0">
                <a:solidFill>
                  <a:srgbClr val="526779"/>
                </a:solidFill>
                <a:latin typeface="Bitstream Charter"/>
                <a:ea typeface="Bitstream Charter"/>
                <a:cs typeface="Bitstream Charter"/>
              </a:defRPr>
            </a:pPr>
            <a:r>
              <a:rPr sz="1650" b="0">
                <a:solidFill>
                  <a:srgbClr val="526779"/>
                </a:solidFill>
                <a:latin typeface="Bitstream Charter"/>
                <a:ea typeface="Bitstream Charter"/>
                <a:cs typeface="Bitstream Charter"/>
              </a:rPr>
              <a:t>Defender: CyberCity's SCADA operator. Grounded in the 2021 Oldsmar attack.</a:t>
            </a:r>
          </a:p>
        </p:txBody>
      </p:sp>
    </p:spTree>
    <p:extLst>
      <p:ext uri="{BB962C8B-B14F-4D97-AF65-F5344CB8AC3E}">
        <p14:creationId xmlns:p14="http://schemas.microsoft.com/office/powerpoint/2010/main" val="75705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040B3D4F-B9E8-461B-A5D6-50C2F4FC3046}"/>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An independent safety layer</a:t>
            </a:r>
          </a:p>
        </p:txBody>
      </p:sp>
      <p:sp>
        <p:nvSpPr>
          <p:cNvPr id="3" name="Rectangle 2">
            <a:extLst>
              <a:ext uri="{FF2B5EF4-FFF2-40B4-BE49-F238E27FC236}">
                <a16:creationId xmlns:a16="http://schemas.microsoft.com/office/drawing/2014/main" id="{F485AEA1-1F5F-4E9F-81B2-EE8D34294C49}"/>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D3F19C66-BDD2-48C9-9E58-2DF209E5C56D}"/>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03</a:t>
            </a:r>
          </a:p>
        </p:txBody>
      </p:sp>
      <p:sp>
        <p:nvSpPr>
          <p:cNvPr id="5" name="Rectangle 4">
            <a:extLst>
              <a:ext uri="{FF2B5EF4-FFF2-40B4-BE49-F238E27FC236}">
                <a16:creationId xmlns:a16="http://schemas.microsoft.com/office/drawing/2014/main" id="{F9783101-4213-41CA-9E2C-4C3A2A63FA5D}"/>
              </a:ext>
            </a:extLst>
          </p:cNvPr>
          <p:cNvSpPr>
            <a:spLocks noGrp="1"/>
          </p:cNvSpPr>
          <p:nvPr/>
        </p:nvSpPr>
        <p:spPr>
          <a:xfrm>
            <a:off x="714375" y="1952625"/>
            <a:ext cx="2381250" cy="809625"/>
          </a:xfrm>
          <a:prstGeom prst="rect">
            <a:avLst/>
          </a:prstGeom>
          <a:noFill/>
          <a:ln w="0">
            <a:noFill/>
          </a:ln>
        </p:spPr>
        <p:txBody>
          <a:bodyPr>
            <a:noAutofit/>
          </a:bodyPr>
          <a:lstStyle/>
          <a:p>
            <a:pPr>
              <a:defRPr sz="4650" b="1">
                <a:solidFill>
                  <a:srgbClr val="0075B9"/>
                </a:solidFill>
                <a:latin typeface="Bitstream Charter"/>
                <a:ea typeface="Bitstream Charter"/>
                <a:cs typeface="Bitstream Charter"/>
              </a:defRPr>
            </a:pPr>
            <a:r>
              <a:rPr sz="4650" b="1">
                <a:solidFill>
                  <a:srgbClr val="0075B9"/>
                </a:solidFill>
                <a:latin typeface="Bitstream Charter"/>
                <a:ea typeface="Bitstream Charter"/>
                <a:cs typeface="Bitstream Charter"/>
              </a:rPr>
              <a:t>01</a:t>
            </a:r>
          </a:p>
        </p:txBody>
      </p:sp>
      <p:sp>
        <p:nvSpPr>
          <p:cNvPr id="6" name="Rectangle 5">
            <a:extLst>
              <a:ext uri="{FF2B5EF4-FFF2-40B4-BE49-F238E27FC236}">
                <a16:creationId xmlns:a16="http://schemas.microsoft.com/office/drawing/2014/main" id="{558D4832-8019-4F40-BA0E-AAC399D84967}"/>
              </a:ext>
            </a:extLst>
          </p:cNvPr>
          <p:cNvSpPr>
            <a:spLocks noGrp="1"/>
          </p:cNvSpPr>
          <p:nvPr/>
        </p:nvSpPr>
        <p:spPr>
          <a:xfrm>
            <a:off x="714375" y="2952750"/>
            <a:ext cx="3238500" cy="52387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SCADA command</a:t>
            </a:r>
          </a:p>
        </p:txBody>
      </p:sp>
      <p:sp>
        <p:nvSpPr>
          <p:cNvPr id="7" name="Rectangle 6">
            <a:extLst>
              <a:ext uri="{FF2B5EF4-FFF2-40B4-BE49-F238E27FC236}">
                <a16:creationId xmlns:a16="http://schemas.microsoft.com/office/drawing/2014/main" id="{F0AA868E-0A30-41A7-9550-10093ED6817E}"/>
              </a:ext>
            </a:extLst>
          </p:cNvPr>
          <p:cNvSpPr>
            <a:spLocks noGrp="1"/>
          </p:cNvSpPr>
          <p:nvPr/>
        </p:nvSpPr>
        <p:spPr>
          <a:xfrm>
            <a:off x="4619625" y="1952625"/>
            <a:ext cx="2381250" cy="809625"/>
          </a:xfrm>
          <a:prstGeom prst="rect">
            <a:avLst/>
          </a:prstGeom>
          <a:noFill/>
          <a:ln w="0">
            <a:noFill/>
          </a:ln>
        </p:spPr>
        <p:txBody>
          <a:bodyPr>
            <a:noAutofit/>
          </a:bodyPr>
          <a:lstStyle/>
          <a:p>
            <a:pPr>
              <a:defRPr sz="4650" b="1">
                <a:solidFill>
                  <a:srgbClr val="0075B9"/>
                </a:solidFill>
                <a:latin typeface="Bitstream Charter"/>
                <a:ea typeface="Bitstream Charter"/>
                <a:cs typeface="Bitstream Charter"/>
              </a:defRPr>
            </a:pPr>
            <a:r>
              <a:rPr sz="4650" b="1">
                <a:solidFill>
                  <a:srgbClr val="0075B9"/>
                </a:solidFill>
                <a:latin typeface="Bitstream Charter"/>
                <a:ea typeface="Bitstream Charter"/>
                <a:cs typeface="Bitstream Charter"/>
              </a:rPr>
              <a:t>02</a:t>
            </a:r>
          </a:p>
        </p:txBody>
      </p:sp>
      <p:sp>
        <p:nvSpPr>
          <p:cNvPr id="8" name="Rectangle 7">
            <a:extLst>
              <a:ext uri="{FF2B5EF4-FFF2-40B4-BE49-F238E27FC236}">
                <a16:creationId xmlns:a16="http://schemas.microsoft.com/office/drawing/2014/main" id="{2155651E-3CE0-4481-8DAA-801880D3B711}"/>
              </a:ext>
            </a:extLst>
          </p:cNvPr>
          <p:cNvSpPr>
            <a:spLocks noGrp="1"/>
          </p:cNvSpPr>
          <p:nvPr/>
        </p:nvSpPr>
        <p:spPr>
          <a:xfrm>
            <a:off x="4619625" y="2952750"/>
            <a:ext cx="3238500" cy="52387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SIS interlock</a:t>
            </a:r>
          </a:p>
        </p:txBody>
      </p:sp>
      <p:sp>
        <p:nvSpPr>
          <p:cNvPr id="9" name="Rectangle 8">
            <a:extLst>
              <a:ext uri="{FF2B5EF4-FFF2-40B4-BE49-F238E27FC236}">
                <a16:creationId xmlns:a16="http://schemas.microsoft.com/office/drawing/2014/main" id="{3280E678-F1A7-4DE4-B9DC-4B6E3F3E6AEC}"/>
              </a:ext>
            </a:extLst>
          </p:cNvPr>
          <p:cNvSpPr>
            <a:spLocks noGrp="1"/>
          </p:cNvSpPr>
          <p:nvPr/>
        </p:nvSpPr>
        <p:spPr>
          <a:xfrm>
            <a:off x="8477250" y="1952625"/>
            <a:ext cx="2381250" cy="809625"/>
          </a:xfrm>
          <a:prstGeom prst="rect">
            <a:avLst/>
          </a:prstGeom>
          <a:noFill/>
          <a:ln w="0">
            <a:noFill/>
          </a:ln>
        </p:spPr>
        <p:txBody>
          <a:bodyPr>
            <a:noAutofit/>
          </a:bodyPr>
          <a:lstStyle/>
          <a:p>
            <a:pPr>
              <a:defRPr sz="4650" b="1">
                <a:solidFill>
                  <a:srgbClr val="0075B9"/>
                </a:solidFill>
                <a:latin typeface="Bitstream Charter"/>
                <a:ea typeface="Bitstream Charter"/>
                <a:cs typeface="Bitstream Charter"/>
              </a:defRPr>
            </a:pPr>
            <a:r>
              <a:rPr sz="4650" b="1">
                <a:solidFill>
                  <a:srgbClr val="0075B9"/>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C92EFD91-C171-4F6C-AE8F-2E1B16FD8DEA}"/>
              </a:ext>
            </a:extLst>
          </p:cNvPr>
          <p:cNvSpPr>
            <a:spLocks noGrp="1"/>
          </p:cNvSpPr>
          <p:nvPr/>
        </p:nvSpPr>
        <p:spPr>
          <a:xfrm>
            <a:off x="8477250" y="2952750"/>
            <a:ext cx="3238500" cy="52387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Dosing pump</a:t>
            </a:r>
          </a:p>
        </p:txBody>
      </p:sp>
      <p:sp>
        <p:nvSpPr>
          <p:cNvPr id="11" name="Rectangle 10">
            <a:extLst>
              <a:ext uri="{FF2B5EF4-FFF2-40B4-BE49-F238E27FC236}">
                <a16:creationId xmlns:a16="http://schemas.microsoft.com/office/drawing/2014/main" id="{443CFC1B-DF54-4407-98EE-0DDFAA43E6BB}"/>
              </a:ext>
            </a:extLst>
          </p:cNvPr>
          <p:cNvSpPr>
            <a:spLocks noGrp="1"/>
          </p:cNvSpPr>
          <p:nvPr/>
        </p:nvSpPr>
        <p:spPr>
          <a:xfrm>
            <a:off x="714375" y="3714750"/>
            <a:ext cx="3143250" cy="57150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Requested dose</a:t>
            </a:r>
          </a:p>
        </p:txBody>
      </p:sp>
      <p:sp>
        <p:nvSpPr>
          <p:cNvPr id="12" name="Rectangle 11">
            <a:extLst>
              <a:ext uri="{FF2B5EF4-FFF2-40B4-BE49-F238E27FC236}">
                <a16:creationId xmlns:a16="http://schemas.microsoft.com/office/drawing/2014/main" id="{9878AEB6-4D57-4048-AD6E-DA2D0B8E85E1}"/>
              </a:ext>
            </a:extLst>
          </p:cNvPr>
          <p:cNvSpPr>
            <a:spLocks noGrp="1"/>
          </p:cNvSpPr>
          <p:nvPr/>
        </p:nvSpPr>
        <p:spPr>
          <a:xfrm>
            <a:off x="4619625" y="3714750"/>
            <a:ext cx="3429000" cy="95250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Three safety gates</a:t>
            </a:r>
          </a:p>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Independent verification</a:t>
            </a:r>
          </a:p>
        </p:txBody>
      </p:sp>
      <p:sp>
        <p:nvSpPr>
          <p:cNvPr id="13" name="Rectangle 12">
            <a:extLst>
              <a:ext uri="{FF2B5EF4-FFF2-40B4-BE49-F238E27FC236}">
                <a16:creationId xmlns:a16="http://schemas.microsoft.com/office/drawing/2014/main" id="{0902E72E-C622-4C20-8605-3EE74113AB3F}"/>
              </a:ext>
            </a:extLst>
          </p:cNvPr>
          <p:cNvSpPr>
            <a:spLocks noGrp="1"/>
          </p:cNvSpPr>
          <p:nvPr/>
        </p:nvSpPr>
        <p:spPr>
          <a:xfrm>
            <a:off x="8477250" y="3714750"/>
            <a:ext cx="3048000" cy="95250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Only permitted</a:t>
            </a:r>
          </a:p>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commands pass</a:t>
            </a:r>
          </a:p>
        </p:txBody>
      </p:sp>
      <p:sp>
        <p:nvSpPr>
          <p:cNvPr id="14" name="Rectangle 13">
            <a:extLst>
              <a:ext uri="{FF2B5EF4-FFF2-40B4-BE49-F238E27FC236}">
                <a16:creationId xmlns:a16="http://schemas.microsoft.com/office/drawing/2014/main" id="{3D7135A5-760B-4E67-8AF5-1224B1512133}"/>
              </a:ext>
            </a:extLst>
          </p:cNvPr>
          <p:cNvSpPr>
            <a:spLocks noGrp="1"/>
          </p:cNvSpPr>
          <p:nvPr/>
        </p:nvSpPr>
        <p:spPr>
          <a:xfrm>
            <a:off x="714375" y="5334000"/>
            <a:ext cx="10477500" cy="381000"/>
          </a:xfrm>
          <a:prstGeom prst="rect">
            <a:avLst/>
          </a:prstGeom>
          <a:noFill/>
          <a:ln w="0">
            <a:noFill/>
          </a:ln>
        </p:spPr>
        <p:txBody>
          <a:bodyPr>
            <a:noAutofit/>
          </a:bodyPr>
          <a:lstStyle/>
          <a:p>
            <a:pPr>
              <a:defRPr sz="1650" b="0">
                <a:solidFill>
                  <a:srgbClr val="526779"/>
                </a:solidFill>
                <a:latin typeface="Bitstream Charter"/>
                <a:ea typeface="Bitstream Charter"/>
                <a:cs typeface="Bitstream Charter"/>
              </a:defRPr>
            </a:pPr>
            <a:r>
              <a:rPr sz="1650" b="0">
                <a:solidFill>
                  <a:srgbClr val="526779"/>
                </a:solidFill>
                <a:latin typeface="Bitstream Charter"/>
                <a:ea typeface="Bitstream Charter"/>
                <a:cs typeface="Bitstream Charter"/>
              </a:rPr>
              <a:t>SIS = Safety Instrumented System</a:t>
            </a:r>
          </a:p>
        </p:txBody>
      </p:sp>
    </p:spTree>
    <p:extLst>
      <p:ext uri="{BB962C8B-B14F-4D97-AF65-F5344CB8AC3E}">
        <p14:creationId xmlns:p14="http://schemas.microsoft.com/office/powerpoint/2010/main" val="415194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020BEC78-D8A6-4384-8A08-522B0DE610E5}"/>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Three safety gates</a:t>
            </a:r>
          </a:p>
        </p:txBody>
      </p:sp>
      <p:sp>
        <p:nvSpPr>
          <p:cNvPr id="3" name="Rectangle 2">
            <a:extLst>
              <a:ext uri="{FF2B5EF4-FFF2-40B4-BE49-F238E27FC236}">
                <a16:creationId xmlns:a16="http://schemas.microsoft.com/office/drawing/2014/main" id="{A2FB832A-984C-40B2-90F4-B2B555EE92F5}"/>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D19624E6-6769-4308-BD03-EDE6374DA5ED}"/>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04</a:t>
            </a:r>
          </a:p>
        </p:txBody>
      </p:sp>
      <p:sp>
        <p:nvSpPr>
          <p:cNvPr id="5" name="Rectangle 4">
            <a:extLst>
              <a:ext uri="{FF2B5EF4-FFF2-40B4-BE49-F238E27FC236}">
                <a16:creationId xmlns:a16="http://schemas.microsoft.com/office/drawing/2014/main" id="{314E52C5-A9E4-4F31-B527-781CFDB6A99F}"/>
              </a:ext>
            </a:extLst>
          </p:cNvPr>
          <p:cNvSpPr>
            <a:spLocks noGrp="1"/>
          </p:cNvSpPr>
          <p:nvPr/>
        </p:nvSpPr>
        <p:spPr>
          <a:xfrm>
            <a:off x="714375" y="2000250"/>
            <a:ext cx="3333750" cy="952500"/>
          </a:xfrm>
          <a:prstGeom prst="rect">
            <a:avLst/>
          </a:prstGeom>
          <a:noFill/>
          <a:ln w="0">
            <a:noFill/>
          </a:ln>
        </p:spPr>
        <p:txBody>
          <a:bodyPr>
            <a:noAutofit/>
          </a:bodyPr>
          <a:lstStyle/>
          <a:p>
            <a:pPr>
              <a:defRPr sz="4350" b="1">
                <a:solidFill>
                  <a:srgbClr val="0075B9"/>
                </a:solidFill>
                <a:latin typeface="Bitstream Charter"/>
                <a:ea typeface="Bitstream Charter"/>
                <a:cs typeface="Bitstream Charter"/>
              </a:defRPr>
            </a:pPr>
            <a:r>
              <a:rPr sz="4350" b="1">
                <a:solidFill>
                  <a:srgbClr val="0075B9"/>
                </a:solidFill>
                <a:latin typeface="Bitstream Charter"/>
                <a:ea typeface="Bitstream Charter"/>
                <a:cs typeface="Bitstream Charter"/>
              </a:rPr>
              <a:t>150 ppm</a:t>
            </a:r>
          </a:p>
        </p:txBody>
      </p:sp>
      <p:sp>
        <p:nvSpPr>
          <p:cNvPr id="6" name="Rectangle 5">
            <a:extLst>
              <a:ext uri="{FF2B5EF4-FFF2-40B4-BE49-F238E27FC236}">
                <a16:creationId xmlns:a16="http://schemas.microsoft.com/office/drawing/2014/main" id="{420C1834-5392-4682-9A49-D3A08DFC8E9A}"/>
              </a:ext>
            </a:extLst>
          </p:cNvPr>
          <p:cNvSpPr>
            <a:spLocks noGrp="1"/>
          </p:cNvSpPr>
          <p:nvPr/>
        </p:nvSpPr>
        <p:spPr>
          <a:xfrm>
            <a:off x="714375" y="3143250"/>
            <a:ext cx="3333750" cy="762000"/>
          </a:xfrm>
          <a:prstGeom prst="rect">
            <a:avLst/>
          </a:prstGeom>
          <a:noFill/>
          <a:ln w="0">
            <a:noFill/>
          </a:ln>
        </p:spPr>
        <p:txBody>
          <a:bodyPr>
            <a:noAutofit/>
          </a:bodyPr>
          <a:lstStyle/>
          <a:p>
            <a:pPr>
              <a:defRPr sz="2175" b="1">
                <a:solidFill>
                  <a:srgbClr val="153550"/>
                </a:solidFill>
                <a:latin typeface="Bitstream Charter"/>
                <a:ea typeface="Bitstream Charter"/>
                <a:cs typeface="Bitstream Charter"/>
              </a:defRPr>
            </a:pPr>
            <a:r>
              <a:rPr sz="2175" b="1">
                <a:solidFill>
                  <a:srgbClr val="153550"/>
                </a:solidFill>
                <a:latin typeface="Bitstream Charter"/>
                <a:ea typeface="Bitstream Charter"/>
                <a:cs typeface="Bitstream Charter"/>
              </a:rPr>
              <a:t>Concentration ceiling</a:t>
            </a:r>
          </a:p>
        </p:txBody>
      </p:sp>
      <p:sp>
        <p:nvSpPr>
          <p:cNvPr id="7" name="Rectangle 6">
            <a:extLst>
              <a:ext uri="{FF2B5EF4-FFF2-40B4-BE49-F238E27FC236}">
                <a16:creationId xmlns:a16="http://schemas.microsoft.com/office/drawing/2014/main" id="{F3DE73D4-366F-4A4A-8DCA-37C3A7142F06}"/>
              </a:ext>
            </a:extLst>
          </p:cNvPr>
          <p:cNvSpPr>
            <a:spLocks noGrp="1"/>
          </p:cNvSpPr>
          <p:nvPr/>
        </p:nvSpPr>
        <p:spPr>
          <a:xfrm>
            <a:off x="714375" y="4048125"/>
            <a:ext cx="3286125" cy="952500"/>
          </a:xfrm>
          <a:prstGeom prst="rect">
            <a:avLst/>
          </a:prstGeom>
          <a:noFill/>
          <a:ln w="0">
            <a:noFill/>
          </a:ln>
        </p:spPr>
        <p:txBody>
          <a:bodyPr>
            <a:noAutofit/>
          </a:bodyPr>
          <a:lstStyle/>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Projected finished-water</a:t>
            </a:r>
          </a:p>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concentration</a:t>
            </a:r>
          </a:p>
        </p:txBody>
      </p:sp>
      <p:sp>
        <p:nvSpPr>
          <p:cNvPr id="8" name="Rectangle 7">
            <a:extLst>
              <a:ext uri="{FF2B5EF4-FFF2-40B4-BE49-F238E27FC236}">
                <a16:creationId xmlns:a16="http://schemas.microsoft.com/office/drawing/2014/main" id="{B041AA8F-01DF-4220-B1DD-8AAC6EBFADE6}"/>
              </a:ext>
            </a:extLst>
          </p:cNvPr>
          <p:cNvSpPr>
            <a:spLocks noGrp="1"/>
          </p:cNvSpPr>
          <p:nvPr/>
        </p:nvSpPr>
        <p:spPr>
          <a:xfrm>
            <a:off x="4619625" y="2000250"/>
            <a:ext cx="3333750" cy="952500"/>
          </a:xfrm>
          <a:prstGeom prst="rect">
            <a:avLst/>
          </a:prstGeom>
          <a:noFill/>
          <a:ln w="0">
            <a:noFill/>
          </a:ln>
        </p:spPr>
        <p:txBody>
          <a:bodyPr>
            <a:noAutofit/>
          </a:bodyPr>
          <a:lstStyle/>
          <a:p>
            <a:pPr>
              <a:defRPr sz="4350" b="1">
                <a:solidFill>
                  <a:srgbClr val="0075B9"/>
                </a:solidFill>
                <a:latin typeface="Bitstream Charter"/>
                <a:ea typeface="Bitstream Charter"/>
                <a:cs typeface="Bitstream Charter"/>
              </a:defRPr>
            </a:pPr>
            <a:r>
              <a:rPr sz="4350" b="1">
                <a:solidFill>
                  <a:srgbClr val="0075B9"/>
                </a:solidFill>
                <a:latin typeface="Bitstream Charter"/>
                <a:ea typeface="Bitstream Charter"/>
                <a:cs typeface="Bitstream Charter"/>
              </a:rPr>
              <a:t>40 ppm/s</a:t>
            </a:r>
          </a:p>
        </p:txBody>
      </p:sp>
      <p:sp>
        <p:nvSpPr>
          <p:cNvPr id="9" name="Rectangle 8">
            <a:extLst>
              <a:ext uri="{FF2B5EF4-FFF2-40B4-BE49-F238E27FC236}">
                <a16:creationId xmlns:a16="http://schemas.microsoft.com/office/drawing/2014/main" id="{17B4D297-3426-4904-B6BE-B46D6CABF2A1}"/>
              </a:ext>
            </a:extLst>
          </p:cNvPr>
          <p:cNvSpPr>
            <a:spLocks noGrp="1"/>
          </p:cNvSpPr>
          <p:nvPr/>
        </p:nvSpPr>
        <p:spPr>
          <a:xfrm>
            <a:off x="4619625" y="3143250"/>
            <a:ext cx="3333750" cy="762000"/>
          </a:xfrm>
          <a:prstGeom prst="rect">
            <a:avLst/>
          </a:prstGeom>
          <a:noFill/>
          <a:ln w="0">
            <a:noFill/>
          </a:ln>
        </p:spPr>
        <p:txBody>
          <a:bodyPr>
            <a:noAutofit/>
          </a:bodyPr>
          <a:lstStyle/>
          <a:p>
            <a:pPr>
              <a:defRPr sz="2175" b="1">
                <a:solidFill>
                  <a:srgbClr val="153550"/>
                </a:solidFill>
                <a:latin typeface="Bitstream Charter"/>
                <a:ea typeface="Bitstream Charter"/>
                <a:cs typeface="Bitstream Charter"/>
              </a:defRPr>
            </a:pPr>
            <a:r>
              <a:rPr sz="2175" b="1">
                <a:solidFill>
                  <a:srgbClr val="153550"/>
                </a:solidFill>
                <a:latin typeface="Bitstream Charter"/>
                <a:ea typeface="Bitstream Charter"/>
                <a:cs typeface="Bitstream Charter"/>
              </a:rPr>
              <a:t>Slew-rate limit</a:t>
            </a:r>
          </a:p>
        </p:txBody>
      </p:sp>
      <p:sp>
        <p:nvSpPr>
          <p:cNvPr id="10" name="Rectangle 9">
            <a:extLst>
              <a:ext uri="{FF2B5EF4-FFF2-40B4-BE49-F238E27FC236}">
                <a16:creationId xmlns:a16="http://schemas.microsoft.com/office/drawing/2014/main" id="{B1C2F481-E9D2-4C5E-A136-9E6C8842F00F}"/>
              </a:ext>
            </a:extLst>
          </p:cNvPr>
          <p:cNvSpPr>
            <a:spLocks noGrp="1"/>
          </p:cNvSpPr>
          <p:nvPr/>
        </p:nvSpPr>
        <p:spPr>
          <a:xfrm>
            <a:off x="4619625" y="4048125"/>
            <a:ext cx="3286125" cy="952500"/>
          </a:xfrm>
          <a:prstGeom prst="rect">
            <a:avLst/>
          </a:prstGeom>
          <a:noFill/>
          <a:ln w="0">
            <a:noFill/>
          </a:ln>
        </p:spPr>
        <p:txBody>
          <a:bodyPr>
            <a:noAutofit/>
          </a:bodyPr>
          <a:lstStyle/>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Maximum rate of</a:t>
            </a:r>
          </a:p>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dose change</a:t>
            </a:r>
          </a:p>
        </p:txBody>
      </p:sp>
      <p:sp>
        <p:nvSpPr>
          <p:cNvPr id="11" name="Rectangle 10">
            <a:extLst>
              <a:ext uri="{FF2B5EF4-FFF2-40B4-BE49-F238E27FC236}">
                <a16:creationId xmlns:a16="http://schemas.microsoft.com/office/drawing/2014/main" id="{9DE625BA-C395-4511-A7C9-CCFC00B7E59B}"/>
              </a:ext>
            </a:extLst>
          </p:cNvPr>
          <p:cNvSpPr>
            <a:spLocks noGrp="1"/>
          </p:cNvSpPr>
          <p:nvPr/>
        </p:nvSpPr>
        <p:spPr>
          <a:xfrm>
            <a:off x="8477250" y="2000250"/>
            <a:ext cx="3333750" cy="952500"/>
          </a:xfrm>
          <a:prstGeom prst="rect">
            <a:avLst/>
          </a:prstGeom>
          <a:noFill/>
          <a:ln w="0">
            <a:noFill/>
          </a:ln>
        </p:spPr>
        <p:txBody>
          <a:bodyPr>
            <a:noAutofit/>
          </a:bodyPr>
          <a:lstStyle/>
          <a:p>
            <a:pPr>
              <a:defRPr sz="4350" b="1">
                <a:solidFill>
                  <a:srgbClr val="0075B9"/>
                </a:solidFill>
                <a:latin typeface="Bitstream Charter"/>
                <a:ea typeface="Bitstream Charter"/>
                <a:cs typeface="Bitstream Charter"/>
              </a:defRPr>
            </a:pPr>
            <a:r>
              <a:rPr sz="4350" b="1">
                <a:solidFill>
                  <a:srgbClr val="0075B9"/>
                </a:solidFill>
                <a:latin typeface="Bitstream Charter"/>
                <a:ea typeface="Bitstream Charter"/>
                <a:cs typeface="Bitstream Charter"/>
              </a:rPr>
              <a:t>15%</a:t>
            </a:r>
          </a:p>
        </p:txBody>
      </p:sp>
      <p:sp>
        <p:nvSpPr>
          <p:cNvPr id="12" name="Rectangle 11">
            <a:extLst>
              <a:ext uri="{FF2B5EF4-FFF2-40B4-BE49-F238E27FC236}">
                <a16:creationId xmlns:a16="http://schemas.microsoft.com/office/drawing/2014/main" id="{3005FC75-EFBC-45DD-B9B9-227C50CE3AFD}"/>
              </a:ext>
            </a:extLst>
          </p:cNvPr>
          <p:cNvSpPr>
            <a:spLocks noGrp="1"/>
          </p:cNvSpPr>
          <p:nvPr/>
        </p:nvSpPr>
        <p:spPr>
          <a:xfrm>
            <a:off x="8477250" y="3143250"/>
            <a:ext cx="3333750" cy="762000"/>
          </a:xfrm>
          <a:prstGeom prst="rect">
            <a:avLst/>
          </a:prstGeom>
          <a:noFill/>
          <a:ln w="0">
            <a:noFill/>
          </a:ln>
        </p:spPr>
        <p:txBody>
          <a:bodyPr>
            <a:noAutofit/>
          </a:bodyPr>
          <a:lstStyle/>
          <a:p>
            <a:pPr>
              <a:defRPr sz="2175" b="1">
                <a:solidFill>
                  <a:srgbClr val="153550"/>
                </a:solidFill>
                <a:latin typeface="Bitstream Charter"/>
                <a:ea typeface="Bitstream Charter"/>
                <a:cs typeface="Bitstream Charter"/>
              </a:defRPr>
            </a:pPr>
            <a:r>
              <a:rPr sz="2175" b="1">
                <a:solidFill>
                  <a:srgbClr val="153550"/>
                </a:solidFill>
                <a:latin typeface="Bitstream Charter"/>
                <a:ea typeface="Bitstream Charter"/>
                <a:cs typeface="Bitstream Charter"/>
              </a:rPr>
              <a:t>Sensor tolerance</a:t>
            </a:r>
          </a:p>
        </p:txBody>
      </p:sp>
      <p:sp>
        <p:nvSpPr>
          <p:cNvPr id="13" name="Rectangle 12">
            <a:extLst>
              <a:ext uri="{FF2B5EF4-FFF2-40B4-BE49-F238E27FC236}">
                <a16:creationId xmlns:a16="http://schemas.microsoft.com/office/drawing/2014/main" id="{A378B9EF-E0A1-4C61-9911-530418DCC591}"/>
              </a:ext>
            </a:extLst>
          </p:cNvPr>
          <p:cNvSpPr>
            <a:spLocks noGrp="1"/>
          </p:cNvSpPr>
          <p:nvPr/>
        </p:nvSpPr>
        <p:spPr>
          <a:xfrm>
            <a:off x="8477250" y="4048125"/>
            <a:ext cx="3286125" cy="952500"/>
          </a:xfrm>
          <a:prstGeom prst="rect">
            <a:avLst/>
          </a:prstGeom>
          <a:noFill/>
          <a:ln w="0">
            <a:noFill/>
          </a:ln>
        </p:spPr>
        <p:txBody>
          <a:bodyPr>
            <a:noAutofit/>
          </a:bodyPr>
          <a:lstStyle/>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Independent channels</a:t>
            </a:r>
          </a:p>
          <a:p>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checked over multiple samples</a:t>
            </a:r>
          </a:p>
        </p:txBody>
      </p:sp>
      <p:sp>
        <p:nvSpPr>
          <p:cNvPr id="14" name="Rectangle 13">
            <a:extLst>
              <a:ext uri="{FF2B5EF4-FFF2-40B4-BE49-F238E27FC236}">
                <a16:creationId xmlns:a16="http://schemas.microsoft.com/office/drawing/2014/main" id="{5E281178-39B0-4D45-B753-20F9F33F8990}"/>
              </a:ext>
            </a:extLst>
          </p:cNvPr>
          <p:cNvSpPr>
            <a:spLocks noGrp="1"/>
          </p:cNvSpPr>
          <p:nvPr/>
        </p:nvSpPr>
        <p:spPr>
          <a:xfrm>
            <a:off x="714375" y="5524500"/>
            <a:ext cx="10668000" cy="428625"/>
          </a:xfrm>
          <a:prstGeom prst="rect">
            <a:avLst/>
          </a:prstGeom>
          <a:noFill/>
          <a:ln w="0">
            <a:noFill/>
          </a:ln>
        </p:spPr>
        <p:txBody>
          <a:bodyPr>
            <a:noAutofit/>
          </a:bodyPr>
          <a:lstStyle/>
          <a:p>
            <a:pPr>
              <a:defRPr sz="1650" b="0">
                <a:solidFill>
                  <a:srgbClr val="D46516"/>
                </a:solidFill>
                <a:latin typeface="Bitstream Charter"/>
                <a:ea typeface="Bitstream Charter"/>
                <a:cs typeface="Bitstream Charter"/>
              </a:defRPr>
            </a:pPr>
            <a:r>
              <a:rPr sz="1650" b="0">
                <a:solidFill>
                  <a:srgbClr val="D46516"/>
                </a:solidFill>
                <a:latin typeface="Bitstream Charter"/>
                <a:ea typeface="Bitstream Charter"/>
                <a:cs typeface="Bitstream Charter"/>
              </a:rPr>
              <a:t>Prototype settings. Plant-specific safety validation remains required.</a:t>
            </a:r>
          </a:p>
        </p:txBody>
      </p:sp>
    </p:spTree>
    <p:extLst>
      <p:ext uri="{BB962C8B-B14F-4D97-AF65-F5344CB8AC3E}">
        <p14:creationId xmlns:p14="http://schemas.microsoft.com/office/powerpoint/2010/main" val="187353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26AC9DC7-E2B8-45AD-918F-3B89879ED63C}"/>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Response to a sustained attack</a:t>
            </a:r>
          </a:p>
        </p:txBody>
      </p:sp>
      <p:sp>
        <p:nvSpPr>
          <p:cNvPr id="3" name="Rectangle 2">
            <a:extLst>
              <a:ext uri="{FF2B5EF4-FFF2-40B4-BE49-F238E27FC236}">
                <a16:creationId xmlns:a16="http://schemas.microsoft.com/office/drawing/2014/main" id="{29C75DD5-0627-46DF-9D82-5AAE25E50309}"/>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FF5CCD92-1B0C-468A-BEFA-FFE253818790}"/>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05</a:t>
            </a:r>
          </a:p>
        </p:txBody>
      </p:sp>
      <p:sp>
        <p:nvSpPr>
          <p:cNvPr id="5" name="Rectangle 4">
            <a:extLst>
              <a:ext uri="{FF2B5EF4-FFF2-40B4-BE49-F238E27FC236}">
                <a16:creationId xmlns:a16="http://schemas.microsoft.com/office/drawing/2014/main" id="{B9702628-437C-4848-AF58-5EA234179618}"/>
              </a:ext>
            </a:extLst>
          </p:cNvPr>
          <p:cNvSpPr>
            <a:spLocks noGrp="1"/>
          </p:cNvSpPr>
          <p:nvPr/>
        </p:nvSpPr>
        <p:spPr>
          <a:xfrm>
            <a:off x="714375" y="1905000"/>
            <a:ext cx="2857500" cy="1428750"/>
          </a:xfrm>
          <a:prstGeom prst="rect">
            <a:avLst/>
          </a:prstGeom>
          <a:noFill/>
          <a:ln w="0">
            <a:noFill/>
          </a:ln>
        </p:spPr>
        <p:txBody>
          <a:bodyPr>
            <a:noAutofit/>
          </a:bodyPr>
          <a:lstStyle/>
          <a:p>
            <a:pPr>
              <a:defRPr sz="8400" b="1">
                <a:solidFill>
                  <a:srgbClr val="0075B9"/>
                </a:solidFill>
                <a:latin typeface="Bitstream Charter"/>
                <a:ea typeface="Bitstream Charter"/>
                <a:cs typeface="Bitstream Charter"/>
              </a:defRPr>
            </a:pPr>
            <a:r>
              <a:rPr sz="8400" b="1">
                <a:solidFill>
                  <a:srgbClr val="0075B9"/>
                </a:solidFill>
                <a:latin typeface="Bitstream Charter"/>
                <a:ea typeface="Bitstream Charter"/>
                <a:cs typeface="Bitstream Charter"/>
              </a:rPr>
              <a:t>5</a:t>
            </a:r>
          </a:p>
        </p:txBody>
      </p:sp>
      <p:sp>
        <p:nvSpPr>
          <p:cNvPr id="6" name="Rectangle 5">
            <a:extLst>
              <a:ext uri="{FF2B5EF4-FFF2-40B4-BE49-F238E27FC236}">
                <a16:creationId xmlns:a16="http://schemas.microsoft.com/office/drawing/2014/main" id="{459DB6D1-C8F8-4B54-B68F-A0D903C082DC}"/>
              </a:ext>
            </a:extLst>
          </p:cNvPr>
          <p:cNvSpPr>
            <a:spLocks noGrp="1"/>
          </p:cNvSpPr>
          <p:nvPr/>
        </p:nvSpPr>
        <p:spPr>
          <a:xfrm>
            <a:off x="714375" y="3714750"/>
            <a:ext cx="3905250" cy="952500"/>
          </a:xfrm>
          <a:prstGeom prst="rect">
            <a:avLst/>
          </a:prstGeom>
          <a:noFill/>
          <a:ln w="0">
            <a:noFill/>
          </a:ln>
        </p:spPr>
        <p:txBody>
          <a:bodyPr>
            <a:noAutofit/>
          </a:bodyPr>
          <a:lstStyle/>
          <a:p>
            <a:pPr>
              <a:defRPr sz="2325" b="1">
                <a:solidFill>
                  <a:srgbClr val="153550"/>
                </a:solidFill>
                <a:latin typeface="Bitstream Charter"/>
                <a:ea typeface="Bitstream Charter"/>
                <a:cs typeface="Bitstream Charter"/>
              </a:defRPr>
            </a:pPr>
            <a:r>
              <a:rPr sz="2325" b="1">
                <a:solidFill>
                  <a:srgbClr val="153550"/>
                </a:solidFill>
                <a:latin typeface="Bitstream Charter"/>
                <a:ea typeface="Bitstream Charter"/>
                <a:cs typeface="Bitstream Charter"/>
              </a:rPr>
              <a:t>consecutive</a:t>
            </a:r>
          </a:p>
          <a:p>
            <a:pPr>
              <a:defRPr sz="2325" b="1">
                <a:solidFill>
                  <a:srgbClr val="153550"/>
                </a:solidFill>
                <a:latin typeface="Bitstream Charter"/>
                <a:ea typeface="Bitstream Charter"/>
                <a:cs typeface="Bitstream Charter"/>
              </a:defRPr>
            </a:pPr>
            <a:r>
              <a:rPr sz="2325" b="1">
                <a:solidFill>
                  <a:srgbClr val="153550"/>
                </a:solidFill>
                <a:latin typeface="Bitstream Charter"/>
                <a:ea typeface="Bitstream Charter"/>
                <a:cs typeface="Bitstream Charter"/>
              </a:rPr>
              <a:t>blocked commands</a:t>
            </a:r>
          </a:p>
        </p:txBody>
      </p:sp>
      <p:sp>
        <p:nvSpPr>
          <p:cNvPr id="7" name="Rectangle 6">
            <a:extLst>
              <a:ext uri="{FF2B5EF4-FFF2-40B4-BE49-F238E27FC236}">
                <a16:creationId xmlns:a16="http://schemas.microsoft.com/office/drawing/2014/main" id="{69604352-AE55-4F9C-B19C-B6067FA26E41}"/>
              </a:ext>
            </a:extLst>
          </p:cNvPr>
          <p:cNvSpPr>
            <a:spLocks noGrp="1"/>
          </p:cNvSpPr>
          <p:nvPr/>
        </p:nvSpPr>
        <p:spPr>
          <a:xfrm>
            <a:off x="5429250" y="2143125"/>
            <a:ext cx="5905500" cy="762000"/>
          </a:xfrm>
          <a:prstGeom prst="rect">
            <a:avLst/>
          </a:prstGeom>
          <a:noFill/>
          <a:ln w="0">
            <a:noFill/>
          </a:ln>
        </p:spPr>
        <p:txBody>
          <a:bodyPr>
            <a:noAutofit/>
          </a:bodyPr>
          <a:lstStyle/>
          <a:p>
            <a:pPr>
              <a:defRPr sz="3000" b="1">
                <a:solidFill>
                  <a:srgbClr val="153550"/>
                </a:solidFill>
                <a:latin typeface="Bitstream Charter"/>
                <a:ea typeface="Bitstream Charter"/>
                <a:cs typeface="Bitstream Charter"/>
              </a:defRPr>
            </a:pPr>
            <a:r>
              <a:rPr sz="3000" b="1">
                <a:solidFill>
                  <a:srgbClr val="153550"/>
                </a:solidFill>
                <a:latin typeface="Bitstream Charter"/>
                <a:ea typeface="Bitstream Charter"/>
                <a:cs typeface="Bitstream Charter"/>
              </a:rPr>
              <a:t>Gradual dosing reduction</a:t>
            </a:r>
          </a:p>
        </p:txBody>
      </p:sp>
      <p:sp>
        <p:nvSpPr>
          <p:cNvPr id="8" name="Rectangle 7">
            <a:extLst>
              <a:ext uri="{FF2B5EF4-FFF2-40B4-BE49-F238E27FC236}">
                <a16:creationId xmlns:a16="http://schemas.microsoft.com/office/drawing/2014/main" id="{CC4D13B5-8C7D-46AC-832F-51D82DEE11AC}"/>
              </a:ext>
            </a:extLst>
          </p:cNvPr>
          <p:cNvSpPr>
            <a:spLocks noGrp="1"/>
          </p:cNvSpPr>
          <p:nvPr/>
        </p:nvSpPr>
        <p:spPr>
          <a:xfrm>
            <a:off x="5429250" y="3238500"/>
            <a:ext cx="5905500" cy="1047750"/>
          </a:xfrm>
          <a:prstGeom prst="rect">
            <a:avLst/>
          </a:prstGeom>
          <a:noFill/>
          <a:ln w="0">
            <a:noFill/>
          </a:ln>
        </p:spPr>
        <p:txBody>
          <a:bodyPr>
            <a:noAutofit/>
          </a:bodyPr>
          <a:lstStyle/>
          <a:p>
            <a:pPr>
              <a:defRPr sz="2550" b="0">
                <a:solidFill>
                  <a:srgbClr val="0075B9"/>
                </a:solidFill>
                <a:latin typeface="Bitstream Charter"/>
                <a:ea typeface="Bitstream Charter"/>
                <a:cs typeface="Bitstream Charter"/>
              </a:defRPr>
            </a:pPr>
            <a:r>
              <a:rPr sz="2550" b="0">
                <a:solidFill>
                  <a:srgbClr val="0075B9"/>
                </a:solidFill>
                <a:latin typeface="Bitstream Charter"/>
                <a:ea typeface="Bitstream Charter"/>
                <a:cs typeface="Bitstream Charter"/>
              </a:rPr>
              <a:t>Return toward the configured</a:t>
            </a:r>
          </a:p>
          <a:p>
            <a:pPr>
              <a:defRPr sz="2550" b="0">
                <a:solidFill>
                  <a:srgbClr val="0075B9"/>
                </a:solidFill>
                <a:latin typeface="Bitstream Charter"/>
                <a:ea typeface="Bitstream Charter"/>
                <a:cs typeface="Bitstream Charter"/>
              </a:defRPr>
            </a:pPr>
            <a:r>
              <a:rPr sz="2550" b="0">
                <a:solidFill>
                  <a:srgbClr val="0075B9"/>
                </a:solidFill>
                <a:latin typeface="Bitstream Charter"/>
                <a:ea typeface="Bitstream Charter"/>
                <a:cs typeface="Bitstream Charter"/>
              </a:rPr>
              <a:t>100 ppm baseline.</a:t>
            </a:r>
          </a:p>
        </p:txBody>
      </p:sp>
      <p:sp>
        <p:nvSpPr>
          <p:cNvPr id="9" name="Rectangle 8">
            <a:extLst>
              <a:ext uri="{FF2B5EF4-FFF2-40B4-BE49-F238E27FC236}">
                <a16:creationId xmlns:a16="http://schemas.microsoft.com/office/drawing/2014/main" id="{EB2A87EE-6693-476F-A39E-56A5A30200CA}"/>
              </a:ext>
            </a:extLst>
          </p:cNvPr>
          <p:cNvSpPr>
            <a:spLocks noGrp="1"/>
          </p:cNvSpPr>
          <p:nvPr/>
        </p:nvSpPr>
        <p:spPr>
          <a:xfrm>
            <a:off x="5429250" y="4762500"/>
            <a:ext cx="5905500" cy="809625"/>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Maintain plant operation during the response.</a:t>
            </a:r>
          </a:p>
        </p:txBody>
      </p:sp>
    </p:spTree>
    <p:extLst>
      <p:ext uri="{BB962C8B-B14F-4D97-AF65-F5344CB8AC3E}">
        <p14:creationId xmlns:p14="http://schemas.microsoft.com/office/powerpoint/2010/main" val="520211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5C71634F-D2C5-456A-8FF0-3834D749C03D}"/>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Live demonstration</a:t>
            </a:r>
          </a:p>
        </p:txBody>
      </p:sp>
      <p:sp>
        <p:nvSpPr>
          <p:cNvPr id="3" name="Rectangle 2">
            <a:extLst>
              <a:ext uri="{FF2B5EF4-FFF2-40B4-BE49-F238E27FC236}">
                <a16:creationId xmlns:a16="http://schemas.microsoft.com/office/drawing/2014/main" id="{C071BC4D-7EC5-4BE3-AE78-B759F280CFA4}"/>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B8CA0C67-DDFF-4E9E-83DE-479322C5B2A6}"/>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06</a:t>
            </a:r>
          </a:p>
        </p:txBody>
      </p:sp>
      <p:sp>
        <p:nvSpPr>
          <p:cNvPr id="5" name="Rectangle 4">
            <a:extLst>
              <a:ext uri="{FF2B5EF4-FFF2-40B4-BE49-F238E27FC236}">
                <a16:creationId xmlns:a16="http://schemas.microsoft.com/office/drawing/2014/main" id="{3C3A7E70-5977-4977-BF90-8F736C26E038}"/>
              </a:ext>
            </a:extLst>
          </p:cNvPr>
          <p:cNvSpPr>
            <a:spLocks noGrp="1"/>
          </p:cNvSpPr>
          <p:nvPr/>
        </p:nvSpPr>
        <p:spPr>
          <a:xfrm>
            <a:off x="714375" y="2095500"/>
            <a:ext cx="5048250" cy="666750"/>
          </a:xfrm>
          <a:prstGeom prst="rect">
            <a:avLst/>
          </a:prstGeom>
          <a:noFill/>
          <a:ln w="0">
            <a:noFill/>
          </a:ln>
        </p:spPr>
        <p:txBody>
          <a:bodyPr>
            <a:noAutofit/>
          </a:bodyPr>
          <a:lstStyle/>
          <a:p>
            <a:pPr>
              <a:defRPr sz="3150" b="1">
                <a:solidFill>
                  <a:srgbClr val="D46516"/>
                </a:solidFill>
                <a:latin typeface="Bitstream Charter"/>
                <a:ea typeface="Bitstream Charter"/>
                <a:cs typeface="Bitstream Charter"/>
              </a:defRPr>
            </a:pPr>
            <a:r>
              <a:rPr sz="3150" b="1">
                <a:solidFill>
                  <a:srgbClr val="D46516"/>
                </a:solidFill>
                <a:latin typeface="Bitstream Charter"/>
                <a:ea typeface="Bitstream Charter"/>
                <a:cs typeface="Bitstream Charter"/>
              </a:rPr>
              <a:t>Requested dose</a:t>
            </a:r>
          </a:p>
        </p:txBody>
      </p:sp>
      <p:sp>
        <p:nvSpPr>
          <p:cNvPr id="6" name="Rectangle 5">
            <a:extLst>
              <a:ext uri="{FF2B5EF4-FFF2-40B4-BE49-F238E27FC236}">
                <a16:creationId xmlns:a16="http://schemas.microsoft.com/office/drawing/2014/main" id="{778C40C5-9DF0-4DF3-95FC-CDA31544840C}"/>
              </a:ext>
            </a:extLst>
          </p:cNvPr>
          <p:cNvSpPr>
            <a:spLocks noGrp="1"/>
          </p:cNvSpPr>
          <p:nvPr/>
        </p:nvSpPr>
        <p:spPr>
          <a:xfrm>
            <a:off x="714375" y="3000375"/>
            <a:ext cx="5048250" cy="762000"/>
          </a:xfrm>
          <a:prstGeom prst="rect">
            <a:avLst/>
          </a:prstGeom>
          <a:noFill/>
          <a:ln w="0">
            <a:noFill/>
          </a:ln>
        </p:spPr>
        <p:txBody>
          <a:bodyPr>
            <a:noAutofit/>
          </a:bodyPr>
          <a:lstStyle/>
          <a:p>
            <a:pPr>
              <a:defRPr sz="2175" b="0">
                <a:solidFill>
                  <a:srgbClr val="526779"/>
                </a:solidFill>
                <a:latin typeface="Bitstream Charter"/>
                <a:ea typeface="Bitstream Charter"/>
                <a:cs typeface="Bitstream Charter"/>
              </a:defRPr>
            </a:pPr>
            <a:r>
              <a:rPr sz="2175" b="0">
                <a:solidFill>
                  <a:srgbClr val="526779"/>
                </a:solidFill>
                <a:latin typeface="Bitstream Charter"/>
                <a:ea typeface="Bitstream Charter"/>
                <a:cs typeface="Bitstream Charter"/>
              </a:rPr>
              <a:t>The attacker’s “Ghost Line”</a:t>
            </a:r>
          </a:p>
        </p:txBody>
      </p:sp>
      <p:sp>
        <p:nvSpPr>
          <p:cNvPr id="7" name="Rectangle 6">
            <a:extLst>
              <a:ext uri="{FF2B5EF4-FFF2-40B4-BE49-F238E27FC236}">
                <a16:creationId xmlns:a16="http://schemas.microsoft.com/office/drawing/2014/main" id="{AA1D853D-8E24-4DB0-8171-3566F59A83C8}"/>
              </a:ext>
            </a:extLst>
          </p:cNvPr>
          <p:cNvSpPr>
            <a:spLocks noGrp="1"/>
          </p:cNvSpPr>
          <p:nvPr/>
        </p:nvSpPr>
        <p:spPr>
          <a:xfrm>
            <a:off x="6572250" y="2095500"/>
            <a:ext cx="4762500" cy="666750"/>
          </a:xfrm>
          <a:prstGeom prst="rect">
            <a:avLst/>
          </a:prstGeom>
          <a:noFill/>
          <a:ln w="0">
            <a:noFill/>
          </a:ln>
        </p:spPr>
        <p:txBody>
          <a:bodyPr>
            <a:noAutofit/>
          </a:bodyPr>
          <a:lstStyle/>
          <a:p>
            <a:pPr>
              <a:defRPr sz="3150" b="1">
                <a:solidFill>
                  <a:srgbClr val="0075B9"/>
                </a:solidFill>
                <a:latin typeface="Bitstream Charter"/>
                <a:ea typeface="Bitstream Charter"/>
                <a:cs typeface="Bitstream Charter"/>
              </a:defRPr>
            </a:pPr>
            <a:r>
              <a:rPr sz="3150" b="1">
                <a:solidFill>
                  <a:srgbClr val="0075B9"/>
                </a:solidFill>
                <a:latin typeface="Bitstream Charter"/>
                <a:ea typeface="Bitstream Charter"/>
                <a:cs typeface="Bitstream Charter"/>
              </a:rPr>
              <a:t>Applied dose</a:t>
            </a:r>
          </a:p>
        </p:txBody>
      </p:sp>
      <p:sp>
        <p:nvSpPr>
          <p:cNvPr id="8" name="Rectangle 7">
            <a:extLst>
              <a:ext uri="{FF2B5EF4-FFF2-40B4-BE49-F238E27FC236}">
                <a16:creationId xmlns:a16="http://schemas.microsoft.com/office/drawing/2014/main" id="{D0B547A0-C01A-43C0-8730-2FD999990CC2}"/>
              </a:ext>
            </a:extLst>
          </p:cNvPr>
          <p:cNvSpPr>
            <a:spLocks noGrp="1"/>
          </p:cNvSpPr>
          <p:nvPr/>
        </p:nvSpPr>
        <p:spPr>
          <a:xfrm>
            <a:off x="6572250" y="2991231"/>
            <a:ext cx="4762500" cy="952500"/>
          </a:xfrm>
          <a:prstGeom prst="rect">
            <a:avLst/>
          </a:prstGeom>
          <a:noFill/>
          <a:ln w="0">
            <a:noFill/>
          </a:ln>
        </p:spPr>
        <p:txBody>
          <a:bodyPr>
            <a:noAutofit/>
          </a:bodyPr>
          <a:lstStyle/>
          <a:p>
            <a:pPr>
              <a:defRPr sz="2175" b="0">
                <a:solidFill>
                  <a:srgbClr val="526779"/>
                </a:solidFill>
                <a:latin typeface="Bitstream Charter"/>
                <a:ea typeface="Bitstream Charter"/>
                <a:cs typeface="Bitstream Charter"/>
              </a:defRPr>
            </a:pPr>
            <a:r>
              <a:rPr sz="2175" b="0" dirty="0">
                <a:solidFill>
                  <a:srgbClr val="526779"/>
                </a:solidFill>
                <a:latin typeface="Bitstream Charter"/>
                <a:ea typeface="Bitstream Charter"/>
                <a:cs typeface="Bitstream Charter"/>
              </a:rPr>
              <a:t>The command that passes</a:t>
            </a:r>
          </a:p>
          <a:p>
            <a:pPr>
              <a:defRPr sz="2175" b="0">
                <a:solidFill>
                  <a:srgbClr val="526779"/>
                </a:solidFill>
                <a:latin typeface="Bitstream Charter"/>
                <a:ea typeface="Bitstream Charter"/>
                <a:cs typeface="Bitstream Charter"/>
              </a:defRPr>
            </a:pPr>
            <a:r>
              <a:rPr sz="2175" b="0" dirty="0">
                <a:solidFill>
                  <a:srgbClr val="526779"/>
                </a:solidFill>
                <a:latin typeface="Bitstream Charter"/>
                <a:ea typeface="Bitstream Charter"/>
                <a:cs typeface="Bitstream Charter"/>
              </a:rPr>
              <a:t>the safety checks</a:t>
            </a:r>
          </a:p>
        </p:txBody>
      </p:sp>
      <p:sp>
        <p:nvSpPr>
          <p:cNvPr id="11" name="Rectangle 10">
            <a:extLst>
              <a:ext uri="{FF2B5EF4-FFF2-40B4-BE49-F238E27FC236}">
                <a16:creationId xmlns:a16="http://schemas.microsoft.com/office/drawing/2014/main" id="{F0BE401F-535F-48C1-84B0-27413D619F47}"/>
              </a:ext>
            </a:extLst>
          </p:cNvPr>
          <p:cNvSpPr>
            <a:spLocks noGrp="1"/>
          </p:cNvSpPr>
          <p:nvPr/>
        </p:nvSpPr>
        <p:spPr>
          <a:xfrm>
            <a:off x="714375" y="4527804"/>
            <a:ext cx="10477500" cy="381000"/>
          </a:xfrm>
          <a:prstGeom prst="rect">
            <a:avLst/>
          </a:prstGeom>
          <a:noFill/>
          <a:ln w="0">
            <a:noFill/>
          </a:ln>
        </p:spPr>
        <p:txBody>
          <a:bodyPr>
            <a:noAutofit/>
          </a:bodyPr>
          <a:lstStyle/>
          <a:p>
            <a:pPr>
              <a:defRPr sz="1650" b="0">
                <a:solidFill>
                  <a:srgbClr val="526779"/>
                </a:solidFill>
                <a:latin typeface="Bitstream Charter"/>
                <a:ea typeface="Bitstream Charter"/>
                <a:cs typeface="Bitstream Charter"/>
              </a:defRPr>
            </a:pPr>
            <a:r>
              <a:rPr sz="1650" b="0" dirty="0" err="1">
                <a:solidFill>
                  <a:srgbClr val="526779"/>
                </a:solidFill>
                <a:latin typeface="Bitstream Charter"/>
                <a:ea typeface="Bitstream Charter"/>
                <a:cs typeface="Bitstream Charter"/>
              </a:rPr>
              <a:t>FastAPI</a:t>
            </a:r>
            <a:r>
              <a:rPr sz="1650" b="0" dirty="0">
                <a:solidFill>
                  <a:srgbClr val="526779"/>
                </a:solidFill>
                <a:latin typeface="Bitstream Charter"/>
                <a:ea typeface="Bitstream Charter"/>
                <a:cs typeface="Bitstream Charter"/>
              </a:rPr>
              <a:t> dashboard with real-time charts</a:t>
            </a:r>
            <a:endParaRPr lang="en-GB" sz="1650" b="0" dirty="0">
              <a:solidFill>
                <a:srgbClr val="526779"/>
              </a:solidFill>
              <a:latin typeface="Bitstream Charter"/>
              <a:ea typeface="Bitstream Charter"/>
              <a:cs typeface="Bitstream Charter"/>
            </a:endParaRPr>
          </a:p>
          <a:p>
            <a:pPr>
              <a:defRPr sz="1650" b="0">
                <a:solidFill>
                  <a:srgbClr val="526779"/>
                </a:solidFill>
                <a:latin typeface="Bitstream Charter"/>
                <a:ea typeface="Bitstream Charter"/>
                <a:cs typeface="Bitstream Charter"/>
              </a:defRPr>
            </a:pPr>
            <a:r>
              <a:rPr lang="en-GB" sz="1650" dirty="0">
                <a:solidFill>
                  <a:srgbClr val="526779"/>
                </a:solidFill>
                <a:latin typeface="Bitstream Charter"/>
                <a:ea typeface="Bitstream Charter"/>
                <a:cs typeface="Bitstream Charter"/>
              </a:rPr>
              <a:t>Audit log</a:t>
            </a:r>
          </a:p>
          <a:p>
            <a:pPr>
              <a:defRPr sz="1650" b="0">
                <a:solidFill>
                  <a:srgbClr val="526779"/>
                </a:solidFill>
                <a:latin typeface="Bitstream Charter"/>
                <a:ea typeface="Bitstream Charter"/>
                <a:cs typeface="Bitstream Charter"/>
              </a:defRPr>
            </a:pPr>
            <a:r>
              <a:rPr lang="en-GB" sz="1650" dirty="0">
                <a:solidFill>
                  <a:srgbClr val="526779"/>
                </a:solidFill>
                <a:latin typeface="Bitstream Charter"/>
                <a:ea typeface="Bitstream Charter"/>
                <a:cs typeface="Bitstream Charter"/>
              </a:rPr>
              <a:t>Attack flow and response</a:t>
            </a:r>
          </a:p>
        </p:txBody>
      </p:sp>
    </p:spTree>
    <p:extLst>
      <p:ext uri="{BB962C8B-B14F-4D97-AF65-F5344CB8AC3E}">
        <p14:creationId xmlns:p14="http://schemas.microsoft.com/office/powerpoint/2010/main" val="968700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p:blipFill>
        <p:spPr>
          <a:xfrm>
            <a:off x="10668000" y="381000"/>
            <a:ext cx="857250" cy="857250"/>
          </a:xfrm>
          <a:prstGeom prst="rect">
            <a:avLst/>
          </a:prstGeom>
        </p:spPr>
      </p:pic>
      <p:sp>
        <p:nvSpPr>
          <p:cNvPr id="2" name="Rectangle 1">
            <a:extLst>
              <a:ext uri="{FF2B5EF4-FFF2-40B4-BE49-F238E27FC236}">
                <a16:creationId xmlns:a16="http://schemas.microsoft.com/office/drawing/2014/main" id="{42514D4C-94BA-4E24-87FE-4194A52FBD2D}"/>
              </a:ext>
            </a:extLst>
          </p:cNvPr>
          <p:cNvSpPr>
            <a:spLocks noGrp="1"/>
          </p:cNvSpPr>
          <p:nvPr/>
        </p:nvSpPr>
        <p:spPr>
          <a:xfrm>
            <a:off x="666750" y="571500"/>
            <a:ext cx="9620250" cy="904875"/>
          </a:xfrm>
          <a:prstGeom prst="rect">
            <a:avLst/>
          </a:prstGeom>
          <a:noFill/>
          <a:ln w="0">
            <a:noFill/>
          </a:ln>
        </p:spPr>
        <p:txBody>
          <a:bodyPr>
            <a:noAutofit/>
          </a:bodyPr>
          <a:lstStyle/>
          <a:p>
            <a:pPr>
              <a:defRPr sz="3300" b="1">
                <a:solidFill>
                  <a:srgbClr val="153550"/>
                </a:solidFill>
                <a:latin typeface="Bitstream Charter"/>
                <a:ea typeface="Bitstream Charter"/>
                <a:cs typeface="Bitstream Charter"/>
              </a:defRPr>
            </a:pPr>
            <a:r>
              <a:rPr sz="3300" b="1">
                <a:solidFill>
                  <a:srgbClr val="153550"/>
                </a:solidFill>
                <a:latin typeface="Bitstream Charter"/>
                <a:ea typeface="Bitstream Charter"/>
                <a:cs typeface="Bitstream Charter"/>
              </a:rPr>
              <a:t>Path to industrial validation</a:t>
            </a:r>
          </a:p>
        </p:txBody>
      </p:sp>
      <p:sp>
        <p:nvSpPr>
          <p:cNvPr id="3" name="Rectangle 2">
            <a:extLst>
              <a:ext uri="{FF2B5EF4-FFF2-40B4-BE49-F238E27FC236}">
                <a16:creationId xmlns:a16="http://schemas.microsoft.com/office/drawing/2014/main" id="{E8A03629-1F34-4D97-A20C-42EEC8938AF2}"/>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12E9C566-B93C-4A31-9B16-154B5E463F29}"/>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07</a:t>
            </a:r>
          </a:p>
        </p:txBody>
      </p:sp>
      <p:sp>
        <p:nvSpPr>
          <p:cNvPr id="5" name="Rectangle 4">
            <a:extLst>
              <a:ext uri="{FF2B5EF4-FFF2-40B4-BE49-F238E27FC236}">
                <a16:creationId xmlns:a16="http://schemas.microsoft.com/office/drawing/2014/main" id="{32C43FD3-6032-4E16-A72D-879177508E4B}"/>
              </a:ext>
            </a:extLst>
          </p:cNvPr>
          <p:cNvSpPr>
            <a:spLocks noGrp="1"/>
          </p:cNvSpPr>
          <p:nvPr/>
        </p:nvSpPr>
        <p:spPr>
          <a:xfrm>
            <a:off x="714375" y="1952625"/>
            <a:ext cx="666750" cy="571500"/>
          </a:xfrm>
          <a:prstGeom prst="rect">
            <a:avLst/>
          </a:prstGeom>
          <a:noFill/>
          <a:ln w="0">
            <a:noFill/>
          </a:ln>
        </p:spPr>
        <p:txBody>
          <a:bodyPr>
            <a:noAutofit/>
          </a:bodyPr>
          <a:lstStyle/>
          <a:p>
            <a:pPr>
              <a:defRPr sz="2250" b="1">
                <a:solidFill>
                  <a:srgbClr val="0075B9"/>
                </a:solidFill>
                <a:latin typeface="Bitstream Charter"/>
                <a:ea typeface="Bitstream Charter"/>
                <a:cs typeface="Bitstream Charter"/>
              </a:defRPr>
            </a:pPr>
            <a:r>
              <a:rPr sz="2250" b="1">
                <a:solidFill>
                  <a:srgbClr val="0075B9"/>
                </a:solidFill>
                <a:latin typeface="Bitstream Charter"/>
                <a:ea typeface="Bitstream Charter"/>
                <a:cs typeface="Bitstream Charter"/>
              </a:rPr>
              <a:t>01</a:t>
            </a:r>
          </a:p>
        </p:txBody>
      </p:sp>
      <p:sp>
        <p:nvSpPr>
          <p:cNvPr id="6" name="Rectangle 5">
            <a:extLst>
              <a:ext uri="{FF2B5EF4-FFF2-40B4-BE49-F238E27FC236}">
                <a16:creationId xmlns:a16="http://schemas.microsoft.com/office/drawing/2014/main" id="{D74A3681-D703-4126-8141-0B613DF97105}"/>
              </a:ext>
            </a:extLst>
          </p:cNvPr>
          <p:cNvSpPr>
            <a:spLocks noGrp="1"/>
          </p:cNvSpPr>
          <p:nvPr/>
        </p:nvSpPr>
        <p:spPr>
          <a:xfrm>
            <a:off x="1666875" y="1952625"/>
            <a:ext cx="3714750" cy="61912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PLC test rig</a:t>
            </a:r>
          </a:p>
        </p:txBody>
      </p:sp>
      <p:sp>
        <p:nvSpPr>
          <p:cNvPr id="7" name="Rectangle 6">
            <a:extLst>
              <a:ext uri="{FF2B5EF4-FFF2-40B4-BE49-F238E27FC236}">
                <a16:creationId xmlns:a16="http://schemas.microsoft.com/office/drawing/2014/main" id="{DF2B0EC7-722B-4104-BF1C-906566263411}"/>
              </a:ext>
            </a:extLst>
          </p:cNvPr>
          <p:cNvSpPr>
            <a:spLocks noGrp="1"/>
          </p:cNvSpPr>
          <p:nvPr/>
        </p:nvSpPr>
        <p:spPr>
          <a:xfrm>
            <a:off x="5572125" y="1981200"/>
            <a:ext cx="6000750" cy="66675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Modbus / OPC-UA integration</a:t>
            </a:r>
          </a:p>
        </p:txBody>
      </p:sp>
      <p:sp>
        <p:nvSpPr>
          <p:cNvPr id="8" name="Rectangle 7">
            <a:extLst>
              <a:ext uri="{FF2B5EF4-FFF2-40B4-BE49-F238E27FC236}">
                <a16:creationId xmlns:a16="http://schemas.microsoft.com/office/drawing/2014/main" id="{B526F0D7-CC31-46B6-B8DC-515666773A53}"/>
              </a:ext>
            </a:extLst>
          </p:cNvPr>
          <p:cNvSpPr>
            <a:spLocks noGrp="1"/>
          </p:cNvSpPr>
          <p:nvPr/>
        </p:nvSpPr>
        <p:spPr>
          <a:xfrm>
            <a:off x="714375" y="2819400"/>
            <a:ext cx="666750" cy="571500"/>
          </a:xfrm>
          <a:prstGeom prst="rect">
            <a:avLst/>
          </a:prstGeom>
          <a:noFill/>
          <a:ln w="0">
            <a:noFill/>
          </a:ln>
        </p:spPr>
        <p:txBody>
          <a:bodyPr>
            <a:noAutofit/>
          </a:bodyPr>
          <a:lstStyle/>
          <a:p>
            <a:pPr>
              <a:defRPr sz="2250" b="1">
                <a:solidFill>
                  <a:srgbClr val="0075B9"/>
                </a:solidFill>
                <a:latin typeface="Bitstream Charter"/>
                <a:ea typeface="Bitstream Charter"/>
                <a:cs typeface="Bitstream Charter"/>
              </a:defRPr>
            </a:pPr>
            <a:r>
              <a:rPr sz="2250" b="1">
                <a:solidFill>
                  <a:srgbClr val="0075B9"/>
                </a:solidFill>
                <a:latin typeface="Bitstream Charter"/>
                <a:ea typeface="Bitstream Charter"/>
                <a:cs typeface="Bitstream Charter"/>
              </a:rPr>
              <a:t>02</a:t>
            </a:r>
          </a:p>
        </p:txBody>
      </p:sp>
      <p:sp>
        <p:nvSpPr>
          <p:cNvPr id="9" name="Rectangle 8">
            <a:extLst>
              <a:ext uri="{FF2B5EF4-FFF2-40B4-BE49-F238E27FC236}">
                <a16:creationId xmlns:a16="http://schemas.microsoft.com/office/drawing/2014/main" id="{D8A20B07-5094-43EE-93FA-77E4776CFBAA}"/>
              </a:ext>
            </a:extLst>
          </p:cNvPr>
          <p:cNvSpPr>
            <a:spLocks noGrp="1"/>
          </p:cNvSpPr>
          <p:nvPr/>
        </p:nvSpPr>
        <p:spPr>
          <a:xfrm>
            <a:off x="1666875" y="2819400"/>
            <a:ext cx="3714750" cy="61912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Hardware isolation</a:t>
            </a:r>
          </a:p>
        </p:txBody>
      </p:sp>
      <p:sp>
        <p:nvSpPr>
          <p:cNvPr id="10" name="Rectangle 9">
            <a:extLst>
              <a:ext uri="{FF2B5EF4-FFF2-40B4-BE49-F238E27FC236}">
                <a16:creationId xmlns:a16="http://schemas.microsoft.com/office/drawing/2014/main" id="{8156B9CE-0000-4339-BEE3-40C6C2583B3A}"/>
              </a:ext>
            </a:extLst>
          </p:cNvPr>
          <p:cNvSpPr>
            <a:spLocks noGrp="1"/>
          </p:cNvSpPr>
          <p:nvPr/>
        </p:nvSpPr>
        <p:spPr>
          <a:xfrm>
            <a:off x="5572125" y="2847975"/>
            <a:ext cx="6000750" cy="66675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Physical key switch</a:t>
            </a:r>
          </a:p>
        </p:txBody>
      </p:sp>
      <p:sp>
        <p:nvSpPr>
          <p:cNvPr id="11" name="Rectangle 10">
            <a:extLst>
              <a:ext uri="{FF2B5EF4-FFF2-40B4-BE49-F238E27FC236}">
                <a16:creationId xmlns:a16="http://schemas.microsoft.com/office/drawing/2014/main" id="{23AF431A-B58D-47DB-80A6-0C3D1984E9EA}"/>
              </a:ext>
            </a:extLst>
          </p:cNvPr>
          <p:cNvSpPr>
            <a:spLocks noGrp="1"/>
          </p:cNvSpPr>
          <p:nvPr/>
        </p:nvSpPr>
        <p:spPr>
          <a:xfrm>
            <a:off x="714375" y="3686175"/>
            <a:ext cx="666750" cy="571500"/>
          </a:xfrm>
          <a:prstGeom prst="rect">
            <a:avLst/>
          </a:prstGeom>
          <a:noFill/>
          <a:ln w="0">
            <a:noFill/>
          </a:ln>
        </p:spPr>
        <p:txBody>
          <a:bodyPr>
            <a:noAutofit/>
          </a:bodyPr>
          <a:lstStyle/>
          <a:p>
            <a:pPr>
              <a:defRPr sz="2250" b="1">
                <a:solidFill>
                  <a:srgbClr val="0075B9"/>
                </a:solidFill>
                <a:latin typeface="Bitstream Charter"/>
                <a:ea typeface="Bitstream Charter"/>
                <a:cs typeface="Bitstream Charter"/>
              </a:defRPr>
            </a:pPr>
            <a:r>
              <a:rPr sz="2250" b="1">
                <a:solidFill>
                  <a:srgbClr val="0075B9"/>
                </a:solidFill>
                <a:latin typeface="Bitstream Charter"/>
                <a:ea typeface="Bitstream Charter"/>
                <a:cs typeface="Bitstream Charter"/>
              </a:rPr>
              <a:t>03</a:t>
            </a:r>
          </a:p>
        </p:txBody>
      </p:sp>
      <p:sp>
        <p:nvSpPr>
          <p:cNvPr id="12" name="Rectangle 11">
            <a:extLst>
              <a:ext uri="{FF2B5EF4-FFF2-40B4-BE49-F238E27FC236}">
                <a16:creationId xmlns:a16="http://schemas.microsoft.com/office/drawing/2014/main" id="{595D9167-C22F-45E2-A9A7-1894BFF8CF51}"/>
              </a:ext>
            </a:extLst>
          </p:cNvPr>
          <p:cNvSpPr>
            <a:spLocks noGrp="1"/>
          </p:cNvSpPr>
          <p:nvPr/>
        </p:nvSpPr>
        <p:spPr>
          <a:xfrm>
            <a:off x="1666875" y="3686175"/>
            <a:ext cx="3714750" cy="61912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dirty="0">
                <a:solidFill>
                  <a:srgbClr val="153550"/>
                </a:solidFill>
                <a:latin typeface="Bitstream Charter"/>
                <a:ea typeface="Bitstream Charter"/>
                <a:cs typeface="Bitstream Charter"/>
              </a:rPr>
              <a:t>Formal safety revie</a:t>
            </a:r>
            <a:r>
              <a:rPr lang="en-GB" sz="2250" b="1" dirty="0">
                <a:solidFill>
                  <a:srgbClr val="153550"/>
                </a:solidFill>
                <a:latin typeface="Bitstream Charter"/>
                <a:ea typeface="Bitstream Charter"/>
                <a:cs typeface="Bitstream Charter"/>
              </a:rPr>
              <a:t>w</a:t>
            </a:r>
            <a:endParaRPr sz="2250" b="1" dirty="0">
              <a:solidFill>
                <a:srgbClr val="153550"/>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41D0EA3E-C3DF-44EC-BFF8-0E28B6416E47}"/>
              </a:ext>
            </a:extLst>
          </p:cNvPr>
          <p:cNvSpPr>
            <a:spLocks noGrp="1"/>
          </p:cNvSpPr>
          <p:nvPr/>
        </p:nvSpPr>
        <p:spPr>
          <a:xfrm>
            <a:off x="5572125" y="3714750"/>
            <a:ext cx="6000750" cy="66675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ISA-84 review and SIL-3 solver validation</a:t>
            </a:r>
          </a:p>
        </p:txBody>
      </p:sp>
      <p:sp>
        <p:nvSpPr>
          <p:cNvPr id="14" name="Rectangle 13">
            <a:extLst>
              <a:ext uri="{FF2B5EF4-FFF2-40B4-BE49-F238E27FC236}">
                <a16:creationId xmlns:a16="http://schemas.microsoft.com/office/drawing/2014/main" id="{372BBECA-EE3C-4DA5-9A10-D8C4B5C467E6}"/>
              </a:ext>
            </a:extLst>
          </p:cNvPr>
          <p:cNvSpPr>
            <a:spLocks noGrp="1"/>
          </p:cNvSpPr>
          <p:nvPr/>
        </p:nvSpPr>
        <p:spPr>
          <a:xfrm>
            <a:off x="714375" y="4552950"/>
            <a:ext cx="666750" cy="571500"/>
          </a:xfrm>
          <a:prstGeom prst="rect">
            <a:avLst/>
          </a:prstGeom>
          <a:noFill/>
          <a:ln w="0">
            <a:noFill/>
          </a:ln>
        </p:spPr>
        <p:txBody>
          <a:bodyPr>
            <a:noAutofit/>
          </a:bodyPr>
          <a:lstStyle/>
          <a:p>
            <a:pPr>
              <a:defRPr sz="2250" b="1">
                <a:solidFill>
                  <a:srgbClr val="0075B9"/>
                </a:solidFill>
                <a:latin typeface="Bitstream Charter"/>
                <a:ea typeface="Bitstream Charter"/>
                <a:cs typeface="Bitstream Charter"/>
              </a:defRPr>
            </a:pPr>
            <a:r>
              <a:rPr sz="2250" b="1">
                <a:solidFill>
                  <a:srgbClr val="0075B9"/>
                </a:solidFill>
                <a:latin typeface="Bitstream Charter"/>
                <a:ea typeface="Bitstream Charter"/>
                <a:cs typeface="Bitstream Charter"/>
              </a:rPr>
              <a:t>04</a:t>
            </a:r>
          </a:p>
        </p:txBody>
      </p:sp>
      <p:sp>
        <p:nvSpPr>
          <p:cNvPr id="15" name="Rectangle 14">
            <a:extLst>
              <a:ext uri="{FF2B5EF4-FFF2-40B4-BE49-F238E27FC236}">
                <a16:creationId xmlns:a16="http://schemas.microsoft.com/office/drawing/2014/main" id="{E88859A0-88F4-43F1-9196-FF9B4872E495}"/>
              </a:ext>
            </a:extLst>
          </p:cNvPr>
          <p:cNvSpPr>
            <a:spLocks noGrp="1"/>
          </p:cNvSpPr>
          <p:nvPr/>
        </p:nvSpPr>
        <p:spPr>
          <a:xfrm>
            <a:off x="1666875" y="4552950"/>
            <a:ext cx="3714750" cy="619125"/>
          </a:xfrm>
          <a:prstGeom prst="rect">
            <a:avLst/>
          </a:prstGeom>
          <a:noFill/>
          <a:ln w="0">
            <a:noFill/>
          </a:ln>
        </p:spPr>
        <p:txBody>
          <a:bodyPr>
            <a:noAutofit/>
          </a:bodyPr>
          <a:lstStyle/>
          <a:p>
            <a:pPr>
              <a:defRPr sz="2250" b="1">
                <a:solidFill>
                  <a:srgbClr val="153550"/>
                </a:solidFill>
                <a:latin typeface="Bitstream Charter"/>
                <a:ea typeface="Bitstream Charter"/>
                <a:cs typeface="Bitstream Charter"/>
              </a:defRPr>
            </a:pPr>
            <a:r>
              <a:rPr sz="2250" b="1">
                <a:solidFill>
                  <a:srgbClr val="153550"/>
                </a:solidFill>
                <a:latin typeface="Bitstream Charter"/>
                <a:ea typeface="Bitstream Charter"/>
                <a:cs typeface="Bitstream Charter"/>
              </a:rPr>
              <a:t>Broader coverage</a:t>
            </a:r>
          </a:p>
        </p:txBody>
      </p:sp>
      <p:sp>
        <p:nvSpPr>
          <p:cNvPr id="16" name="Rectangle 15">
            <a:extLst>
              <a:ext uri="{FF2B5EF4-FFF2-40B4-BE49-F238E27FC236}">
                <a16:creationId xmlns:a16="http://schemas.microsoft.com/office/drawing/2014/main" id="{AB97FC00-EE9E-4FB3-AA35-33A8F0E08E39}"/>
              </a:ext>
            </a:extLst>
          </p:cNvPr>
          <p:cNvSpPr>
            <a:spLocks noGrp="1"/>
          </p:cNvSpPr>
          <p:nvPr/>
        </p:nvSpPr>
        <p:spPr>
          <a:xfrm>
            <a:off x="5572125" y="4581525"/>
            <a:ext cx="6000750" cy="666750"/>
          </a:xfrm>
          <a:prstGeom prst="rect">
            <a:avLst/>
          </a:prstGeom>
          <a:noFill/>
          <a:ln w="0">
            <a:noFill/>
          </a:ln>
        </p:spPr>
        <p:txBody>
          <a:bodyPr>
            <a:noAutofit/>
          </a:bodyPr>
          <a:lstStyle/>
          <a:p>
            <a:pPr>
              <a:defRPr sz="2025" b="0">
                <a:solidFill>
                  <a:srgbClr val="526779"/>
                </a:solidFill>
                <a:latin typeface="Bitstream Charter"/>
                <a:ea typeface="Bitstream Charter"/>
                <a:cs typeface="Bitstream Charter"/>
              </a:defRPr>
            </a:pPr>
            <a:r>
              <a:rPr sz="2025" b="0">
                <a:solidFill>
                  <a:srgbClr val="526779"/>
                </a:solidFill>
                <a:latin typeface="Bitstream Charter"/>
                <a:ea typeface="Bitstream Charter"/>
                <a:cs typeface="Bitstream Charter"/>
              </a:rPr>
              <a:t>Chlorine and fluoride dosing</a:t>
            </a:r>
          </a:p>
        </p:txBody>
      </p:sp>
    </p:spTree>
    <p:extLst>
      <p:ext uri="{BB962C8B-B14F-4D97-AF65-F5344CB8AC3E}">
        <p14:creationId xmlns:p14="http://schemas.microsoft.com/office/powerpoint/2010/main" val="122176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10668000" y="381000"/>
            <a:ext cx="857250" cy="857250"/>
          </a:xfrm>
          <a:prstGeom prst="rect">
            <a:avLst/>
          </a:prstGeom>
        </p:spPr>
      </p:pic>
      <p:sp>
        <p:nvSpPr>
          <p:cNvPr id="3" name="Rectangle 2">
            <a:extLst>
              <a:ext uri="{FF2B5EF4-FFF2-40B4-BE49-F238E27FC236}">
                <a16:creationId xmlns:a16="http://schemas.microsoft.com/office/drawing/2014/main" id="{F771E7D5-7AAA-4A65-A7C7-26EB17801448}"/>
              </a:ext>
            </a:extLst>
          </p:cNvPr>
          <p:cNvSpPr>
            <a:spLocks noGrp="1"/>
          </p:cNvSpPr>
          <p:nvPr/>
        </p:nvSpPr>
        <p:spPr>
          <a:xfrm>
            <a:off x="666750" y="6257925"/>
            <a:ext cx="981075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CyberMACS Summer School 2026 Hackathon</a:t>
            </a:r>
          </a:p>
        </p:txBody>
      </p:sp>
      <p:sp>
        <p:nvSpPr>
          <p:cNvPr id="4" name="Rectangle 3">
            <a:extLst>
              <a:ext uri="{FF2B5EF4-FFF2-40B4-BE49-F238E27FC236}">
                <a16:creationId xmlns:a16="http://schemas.microsoft.com/office/drawing/2014/main" id="{FC6418EF-06A6-48D9-AD8B-8D42581EA395}"/>
              </a:ext>
            </a:extLst>
          </p:cNvPr>
          <p:cNvSpPr>
            <a:spLocks noGrp="1"/>
          </p:cNvSpPr>
          <p:nvPr/>
        </p:nvSpPr>
        <p:spPr>
          <a:xfrm>
            <a:off x="11049000" y="6257925"/>
            <a:ext cx="571500" cy="285750"/>
          </a:xfrm>
          <a:prstGeom prst="rect">
            <a:avLst/>
          </a:prstGeom>
          <a:noFill/>
          <a:ln w="0">
            <a:noFill/>
          </a:ln>
        </p:spPr>
        <p:txBody>
          <a:bodyPr>
            <a:noAutofit/>
          </a:bodyPr>
          <a:lstStyle/>
          <a:p>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08</a:t>
            </a:r>
          </a:p>
        </p:txBody>
      </p:sp>
      <p:sp>
        <p:nvSpPr>
          <p:cNvPr id="5" name="Rectangle 4">
            <a:extLst>
              <a:ext uri="{FF2B5EF4-FFF2-40B4-BE49-F238E27FC236}">
                <a16:creationId xmlns:a16="http://schemas.microsoft.com/office/drawing/2014/main" id="{0C6EA537-42AD-4F19-82E8-ED7963DFE38B}"/>
              </a:ext>
            </a:extLst>
          </p:cNvPr>
          <p:cNvSpPr>
            <a:spLocks noGrp="1"/>
          </p:cNvSpPr>
          <p:nvPr/>
        </p:nvSpPr>
        <p:spPr>
          <a:xfrm>
            <a:off x="1333500" y="2606040"/>
            <a:ext cx="5429250" cy="2857500"/>
          </a:xfrm>
          <a:prstGeom prst="rect">
            <a:avLst/>
          </a:prstGeom>
          <a:noFill/>
          <a:ln w="0">
            <a:noFill/>
          </a:ln>
        </p:spPr>
        <p:txBody>
          <a:bodyPr>
            <a:noAutofit/>
          </a:bodyPr>
          <a:lstStyle/>
          <a:p>
            <a:pPr>
              <a:defRPr sz="2550" b="0">
                <a:solidFill>
                  <a:srgbClr val="153550"/>
                </a:solidFill>
                <a:latin typeface="Bitstream Charter"/>
                <a:ea typeface="Bitstream Charter"/>
                <a:cs typeface="Bitstream Charter"/>
              </a:defRPr>
            </a:pPr>
            <a:r>
              <a:rPr lang="en-US" sz="5400" b="1" dirty="0">
                <a:solidFill>
                  <a:srgbClr val="153550"/>
                </a:solidFill>
                <a:latin typeface="Bitstream Charter"/>
                <a:ea typeface="Bitstream Charter"/>
                <a:cs typeface="Bitstream Charter"/>
              </a:rPr>
              <a:t>THANK YOU</a:t>
            </a:r>
            <a:endParaRPr sz="5400" b="1" dirty="0">
              <a:solidFill>
                <a:srgbClr val="153550"/>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3DC3A6B0-A4E8-4CA6-8B81-48490D778202}"/>
              </a:ext>
            </a:extLst>
          </p:cNvPr>
          <p:cNvSpPr>
            <a:spLocks noGrp="1"/>
          </p:cNvSpPr>
          <p:nvPr/>
        </p:nvSpPr>
        <p:spPr>
          <a:xfrm>
            <a:off x="6762750" y="1952625"/>
            <a:ext cx="4667250" cy="476250"/>
          </a:xfrm>
          <a:prstGeom prst="rect">
            <a:avLst/>
          </a:prstGeom>
          <a:noFill/>
          <a:ln w="0">
            <a:noFill/>
          </a:ln>
        </p:spPr>
        <p:txBody>
          <a:bodyPr>
            <a:noAutofit/>
          </a:bodyPr>
          <a:lstStyle/>
          <a:p>
            <a:pPr>
              <a:defRPr sz="2100" b="1">
                <a:solidFill>
                  <a:srgbClr val="0075B9"/>
                </a:solidFill>
                <a:latin typeface="Bitstream Charter"/>
                <a:ea typeface="Bitstream Charter"/>
                <a:cs typeface="Bitstream Charter"/>
              </a:defRPr>
            </a:pPr>
            <a:r>
              <a:rPr sz="2100" b="1" dirty="0">
                <a:solidFill>
                  <a:srgbClr val="0075B9"/>
                </a:solidFill>
                <a:latin typeface="Bitstream Charter"/>
                <a:ea typeface="Bitstream Charter"/>
                <a:cs typeface="Bitstream Charter"/>
              </a:rPr>
              <a:t>Project repository</a:t>
            </a:r>
          </a:p>
        </p:txBody>
      </p:sp>
      <p:sp>
        <p:nvSpPr>
          <p:cNvPr id="7" name="Rectangle 6">
            <a:extLst>
              <a:ext uri="{FF2B5EF4-FFF2-40B4-BE49-F238E27FC236}">
                <a16:creationId xmlns:a16="http://schemas.microsoft.com/office/drawing/2014/main" id="{E46771C9-C494-4971-9FE4-FFE927EC3627}"/>
              </a:ext>
            </a:extLst>
          </p:cNvPr>
          <p:cNvSpPr>
            <a:spLocks noGrp="1"/>
          </p:cNvSpPr>
          <p:nvPr/>
        </p:nvSpPr>
        <p:spPr>
          <a:xfrm>
            <a:off x="6762750" y="2462022"/>
            <a:ext cx="4667250" cy="571500"/>
          </a:xfrm>
          <a:prstGeom prst="rect">
            <a:avLst/>
          </a:prstGeom>
          <a:noFill/>
          <a:ln w="0">
            <a:noFill/>
          </a:ln>
        </p:spPr>
        <p:txBody>
          <a:bodyPr>
            <a:noAutofit/>
          </a:bodyPr>
          <a:lstStyle/>
          <a:p>
            <a:pPr>
              <a:defRPr sz="2100" b="0">
                <a:solidFill>
                  <a:srgbClr val="153550"/>
                </a:solidFill>
                <a:latin typeface="Bitstream Charter"/>
                <a:ea typeface="Bitstream Charter"/>
                <a:cs typeface="Bitstream Charter"/>
              </a:defRPr>
            </a:pPr>
            <a:r>
              <a:rPr sz="2100" b="0" dirty="0" err="1">
                <a:solidFill>
                  <a:srgbClr val="153550"/>
                </a:solidFill>
                <a:latin typeface="Bitstream Charter"/>
                <a:ea typeface="Bitstream Charter"/>
                <a:cs typeface="Bitstream Charter"/>
              </a:rPr>
              <a:t>github.com</a:t>
            </a:r>
            <a:r>
              <a:rPr sz="2100" b="0" dirty="0">
                <a:solidFill>
                  <a:srgbClr val="153550"/>
                </a:solidFill>
                <a:latin typeface="Bitstream Charter"/>
                <a:ea typeface="Bitstream Charter"/>
                <a:cs typeface="Bitstream Charter"/>
              </a:rPr>
              <a:t>/</a:t>
            </a:r>
            <a:r>
              <a:rPr sz="2100" b="0" dirty="0" err="1">
                <a:solidFill>
                  <a:srgbClr val="153550"/>
                </a:solidFill>
                <a:latin typeface="Bitstream Charter"/>
                <a:ea typeface="Bitstream Charter"/>
                <a:cs typeface="Bitstream Charter"/>
              </a:rPr>
              <a:t>devded</a:t>
            </a:r>
            <a:r>
              <a:rPr sz="2100" b="0" dirty="0">
                <a:solidFill>
                  <a:srgbClr val="153550"/>
                </a:solidFill>
                <a:latin typeface="Bitstream Charter"/>
                <a:ea typeface="Bitstream Charter"/>
                <a:cs typeface="Bitstream Charter"/>
              </a:rPr>
              <a:t>/i1</a:t>
            </a:r>
          </a:p>
        </p:txBody>
      </p:sp>
      <p:sp>
        <p:nvSpPr>
          <p:cNvPr id="8" name="Rectangle 7">
            <a:extLst>
              <a:ext uri="{FF2B5EF4-FFF2-40B4-BE49-F238E27FC236}">
                <a16:creationId xmlns:a16="http://schemas.microsoft.com/office/drawing/2014/main" id="{8C557EFB-F177-47D4-B66D-0174BD258FF2}"/>
              </a:ext>
            </a:extLst>
          </p:cNvPr>
          <p:cNvSpPr>
            <a:spLocks noGrp="1"/>
          </p:cNvSpPr>
          <p:nvPr/>
        </p:nvSpPr>
        <p:spPr>
          <a:xfrm>
            <a:off x="6762750" y="3612261"/>
            <a:ext cx="4667250" cy="476250"/>
          </a:xfrm>
          <a:prstGeom prst="rect">
            <a:avLst/>
          </a:prstGeom>
          <a:noFill/>
          <a:ln w="0">
            <a:noFill/>
          </a:ln>
        </p:spPr>
        <p:txBody>
          <a:bodyPr>
            <a:noAutofit/>
          </a:bodyPr>
          <a:lstStyle/>
          <a:p>
            <a:pPr>
              <a:defRPr sz="2100" b="1">
                <a:solidFill>
                  <a:srgbClr val="0075B9"/>
                </a:solidFill>
                <a:latin typeface="Bitstream Charter"/>
                <a:ea typeface="Bitstream Charter"/>
                <a:cs typeface="Bitstream Charter"/>
              </a:defRPr>
            </a:pPr>
            <a:r>
              <a:rPr sz="2100" b="1" dirty="0">
                <a:solidFill>
                  <a:srgbClr val="0075B9"/>
                </a:solidFill>
                <a:latin typeface="Bitstream Charter"/>
                <a:ea typeface="Bitstream Charter"/>
                <a:cs typeface="Bitstream Charter"/>
              </a:rPr>
              <a:t>AI tool disclosure</a:t>
            </a:r>
          </a:p>
        </p:txBody>
      </p:sp>
      <p:sp>
        <p:nvSpPr>
          <p:cNvPr id="9" name="Rectangle 8">
            <a:extLst>
              <a:ext uri="{FF2B5EF4-FFF2-40B4-BE49-F238E27FC236}">
                <a16:creationId xmlns:a16="http://schemas.microsoft.com/office/drawing/2014/main" id="{3DCD8841-62A2-4D52-A155-C91D818E4EAA}"/>
              </a:ext>
            </a:extLst>
          </p:cNvPr>
          <p:cNvSpPr>
            <a:spLocks noGrp="1"/>
          </p:cNvSpPr>
          <p:nvPr/>
        </p:nvSpPr>
        <p:spPr>
          <a:xfrm>
            <a:off x="6762750" y="4185666"/>
            <a:ext cx="4667250" cy="1381125"/>
          </a:xfrm>
          <a:prstGeom prst="rect">
            <a:avLst/>
          </a:prstGeom>
          <a:noFill/>
          <a:ln w="0">
            <a:noFill/>
          </a:ln>
        </p:spPr>
        <p:txBody>
          <a:bodyPr>
            <a:noAutofit/>
          </a:bodyPr>
          <a:lstStyle/>
          <a:p>
            <a:pPr>
              <a:defRPr sz="1875" b="0">
                <a:solidFill>
                  <a:srgbClr val="526779"/>
                </a:solidFill>
                <a:latin typeface="Bitstream Charter"/>
                <a:ea typeface="Bitstream Charter"/>
                <a:cs typeface="Bitstream Charter"/>
              </a:defRPr>
            </a:pPr>
            <a:r>
              <a:rPr sz="1875" b="0" dirty="0">
                <a:solidFill>
                  <a:srgbClr val="526779"/>
                </a:solidFill>
                <a:latin typeface="Bitstream Charter"/>
                <a:ea typeface="Bitstream Charter"/>
                <a:cs typeface="Bitstream Charter"/>
              </a:rPr>
              <a:t>Claude Code assisted implementation.</a:t>
            </a:r>
          </a:p>
          <a:p>
            <a:pPr>
              <a:defRPr sz="1875" b="0">
                <a:solidFill>
                  <a:srgbClr val="526779"/>
                </a:solidFill>
                <a:latin typeface="Bitstream Charter"/>
                <a:ea typeface="Bitstream Charter"/>
                <a:cs typeface="Bitstream Charter"/>
              </a:defRPr>
            </a:pPr>
            <a:r>
              <a:rPr sz="1875" b="0" dirty="0">
                <a:solidFill>
                  <a:srgbClr val="526779"/>
                </a:solidFill>
                <a:latin typeface="Bitstream Charter"/>
                <a:ea typeface="Bitstream Charter"/>
                <a:cs typeface="Bitstream Charter"/>
              </a:rPr>
              <a:t>The team owns the design</a:t>
            </a:r>
          </a:p>
          <a:p>
            <a:pPr>
              <a:defRPr sz="1875" b="0">
                <a:solidFill>
                  <a:srgbClr val="526779"/>
                </a:solidFill>
                <a:latin typeface="Bitstream Charter"/>
                <a:ea typeface="Bitstream Charter"/>
                <a:cs typeface="Bitstream Charter"/>
              </a:defRPr>
            </a:pPr>
            <a:r>
              <a:rPr sz="1875" b="0" dirty="0">
                <a:solidFill>
                  <a:srgbClr val="526779"/>
                </a:solidFill>
                <a:latin typeface="Bitstream Charter"/>
                <a:ea typeface="Bitstream Charter"/>
                <a:cs typeface="Bitstream Charter"/>
              </a:rPr>
              <a:t>and safety-critical logic.</a:t>
            </a:r>
          </a:p>
        </p:txBody>
      </p:sp>
    </p:spTree>
    <p:extLst>
      <p:ext uri="{BB962C8B-B14F-4D97-AF65-F5344CB8AC3E}">
        <p14:creationId xmlns:p14="http://schemas.microsoft.com/office/powerpoint/2010/main" val="16330359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644</Words>
  <Application>Microsoft Macintosh PowerPoint</Application>
  <DocSecurity>0</DocSecurity>
  <PresentationFormat>Widescreen</PresentationFormat>
  <Paragraphs>100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AMAAN RAIS SHAH</cp:lastModifiedBy>
  <cp:revision>5</cp:revision>
  <cp:lastPrinted>2026-09-19T06:28:30Z</cp:lastPrinted>
  <dcterms:created xsi:type="dcterms:W3CDTF">2026-09-18T18:09:14Z</dcterms:created>
  <dcterms:modified xsi:type="dcterms:W3CDTF">2026-09-19T06:31:44Z</dcterms:modified>
</cp:coreProperties>
</file>